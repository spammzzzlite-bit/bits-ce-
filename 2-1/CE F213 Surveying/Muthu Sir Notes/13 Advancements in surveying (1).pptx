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61" r:id="rId3"/>
    <p:sldId id="282" r:id="rId4"/>
    <p:sldId id="279" r:id="rId5"/>
    <p:sldId id="280" r:id="rId6"/>
    <p:sldId id="283" r:id="rId7"/>
    <p:sldId id="284" r:id="rId8"/>
    <p:sldId id="285" r:id="rId9"/>
    <p:sldId id="278" r:id="rId10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Objects="1">
      <p:cViewPr varScale="1">
        <p:scale>
          <a:sx n="103" d="100"/>
          <a:sy n="103" d="100"/>
        </p:scale>
        <p:origin x="-19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32F6615-4AF5-46CC-9B7D-B5ACA5CA8634}" type="datetimeFigureOut">
              <a:rPr lang="en-US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357DE68-661E-422A-8D1B-55B53F5EFF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57DE68-661E-422A-8D1B-55B53F5EFF0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CF8AC5-DA58-45D0-999A-5E9D3FDC1C23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4874A-9F9C-412B-8B59-7BB7BD4CCB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27C6E-0B6B-4AAD-BD9F-51C73D9B21F2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CD2F88-8A41-4E7F-9278-91FE67E35F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DFBB8-8C43-46E0-9310-4B7EE1897D37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D8AA93-391F-4BF1-AB24-EE1C188117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483C1-D9F3-44AC-B71A-87ED5C244956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9EF8F-76BF-4C1E-800D-331B123EDE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51453-7167-4F2B-BFD9-6DFD7AD5FB3C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A3E7E-5A1B-47E5-978D-1F4346EAB9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564B28-1CEA-44CF-9425-C9A136346C5D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9D76F-CB32-479A-B956-6E7A4C40D2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82502-C56C-4622-9303-429AFDCCA366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59A8A-7DBD-46DB-811A-0FD3F62D59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2FD7D-2B68-41FF-9EE0-F12BD6CB7F40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F6F4D-7262-49C8-A02A-33CDA8E5A9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7E9DB1-1EE9-436B-ABDB-0EE5DFDB1613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7094D3-A18E-4A55-B245-DB9F8591A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C90A48-8EC0-4F61-989C-42E9F68E53F5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279BF-7C38-49CF-A937-48071A4103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40FE1A-BF19-41B9-9177-032B8EBD7D55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636E2-C54D-4D84-839B-83170FDE6B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  <a:endParaRPr lang="en-US" smtClean="0"/>
          </a:p>
        </p:txBody>
      </p:sp>
      <p:sp>
        <p:nvSpPr>
          <p:cNvPr id="40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183CCB3-A143-4B46-8A1A-B83E00F4FF59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46B3258-B9C0-4096-B6BF-26A4F58769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2743200"/>
            <a:ext cx="8001000" cy="24384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5122" name="Picture 19" descr="11942.jpg"/>
          <p:cNvPicPr>
            <a:picLocks noChangeAspect="1"/>
          </p:cNvPicPr>
          <p:nvPr/>
        </p:nvPicPr>
        <p:blipFill>
          <a:blip r:embed="rId3">
            <a:lum bright="-20000" contrast="22000"/>
          </a:blip>
          <a:srcRect b="48065"/>
          <a:stretch>
            <a:fillRect/>
          </a:stretch>
        </p:blipFill>
        <p:spPr bwMode="auto">
          <a:xfrm>
            <a:off x="0" y="0"/>
            <a:ext cx="9251950" cy="6938963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23" name="Rectangle 22"/>
          <p:cNvSpPr/>
          <p:nvPr/>
        </p:nvSpPr>
        <p:spPr>
          <a:xfrm>
            <a:off x="3006725" y="5181600"/>
            <a:ext cx="2713038" cy="914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395913" y="5181600"/>
            <a:ext cx="2605087" cy="9144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25400" y="5181600"/>
            <a:ext cx="3006725" cy="91440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928662" y="2410718"/>
            <a:ext cx="795923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spc="-150" dirty="0" smtClean="0">
                <a:solidFill>
                  <a:srgbClr val="FF0000"/>
                </a:solidFill>
                <a:latin typeface="Helvetica"/>
                <a:cs typeface="Helvetica"/>
              </a:rPr>
              <a:t>Advancements in Surveying</a:t>
            </a:r>
          </a:p>
        </p:txBody>
      </p:sp>
      <p:pic>
        <p:nvPicPr>
          <p:cNvPr id="5129" name="Picture 11" descr="logo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3360738"/>
            <a:ext cx="1260475" cy="127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30" name="TextBox 12"/>
          <p:cNvSpPr txBox="1">
            <a:spLocks noChangeArrowheads="1"/>
          </p:cNvSpPr>
          <p:nvPr/>
        </p:nvSpPr>
        <p:spPr bwMode="auto">
          <a:xfrm>
            <a:off x="6810375" y="833438"/>
            <a:ext cx="1852613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FFFFFF"/>
                </a:solidFill>
                <a:latin typeface="Helvetica" pitchFamily="34" charset="0"/>
                <a:cs typeface="Helvetica" pitchFamily="34" charset="0"/>
              </a:rPr>
              <a:t>BITS</a:t>
            </a:r>
            <a:r>
              <a:rPr lang="en-US" sz="26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 </a:t>
            </a:r>
            <a:r>
              <a:rPr lang="en-US" sz="2600" dirty="0">
                <a:solidFill>
                  <a:srgbClr val="FFFFFF"/>
                </a:solidFill>
                <a:latin typeface="Helvetica" pitchFamily="34" charset="0"/>
                <a:cs typeface="Helvetica" pitchFamily="34" charset="0"/>
              </a:rPr>
              <a:t>Pilani</a:t>
            </a:r>
          </a:p>
        </p:txBody>
      </p:sp>
      <p:sp>
        <p:nvSpPr>
          <p:cNvPr id="5131" name="TextBox 13"/>
          <p:cNvSpPr txBox="1">
            <a:spLocks noChangeArrowheads="1"/>
          </p:cNvSpPr>
          <p:nvPr/>
        </p:nvSpPr>
        <p:spPr bwMode="auto">
          <a:xfrm>
            <a:off x="7312025" y="1171575"/>
            <a:ext cx="1341438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Helvetica" pitchFamily="34" charset="0"/>
                <a:cs typeface="Helvetica" pitchFamily="34" charset="0"/>
              </a:rPr>
              <a:t>Pilani Campus</a:t>
            </a:r>
            <a:endParaRPr lang="en-US" sz="1400" dirty="0">
              <a:latin typeface="Helvetica" pitchFamily="34" charset="0"/>
              <a:cs typeface="Helvetica" pitchFamily="34" charset="0"/>
            </a:endParaRPr>
          </a:p>
        </p:txBody>
      </p:sp>
      <p:pic>
        <p:nvPicPr>
          <p:cNvPr id="5132" name="Picture 15" descr="Picture 7.png"/>
          <p:cNvPicPr>
            <a:picLocks noChangeAspect="1"/>
          </p:cNvPicPr>
          <p:nvPr/>
        </p:nvPicPr>
        <p:blipFill>
          <a:blip r:embed="rId5"/>
          <a:srcRect l="1923" b="5336"/>
          <a:stretch>
            <a:fillRect/>
          </a:stretch>
        </p:blipFill>
        <p:spPr bwMode="auto">
          <a:xfrm>
            <a:off x="6950075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F60B67-0EC4-4DD7-B5C1-1E537BB4957F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84874A-9F9C-412B-8B59-7BB7BD4CCB0F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Box 14"/>
          <p:cNvSpPr txBox="1">
            <a:spLocks noChangeArrowheads="1"/>
          </p:cNvSpPr>
          <p:nvPr/>
        </p:nvSpPr>
        <p:spPr bwMode="auto">
          <a:xfrm>
            <a:off x="7369175" y="6596063"/>
            <a:ext cx="1838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BITS</a:t>
            </a:r>
            <a:r>
              <a:rPr lang="en-US" sz="1100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Pilani</a:t>
            </a:r>
            <a:r>
              <a:rPr lang="en-US" sz="1100" dirty="0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, Pilani Campus</a:t>
            </a:r>
          </a:p>
        </p:txBody>
      </p:sp>
      <p:pic>
        <p:nvPicPr>
          <p:cNvPr id="7172" name="Picture 15" descr="Picture 7.png"/>
          <p:cNvPicPr>
            <a:picLocks noChangeAspect="1"/>
          </p:cNvPicPr>
          <p:nvPr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7764463" y="0"/>
            <a:ext cx="121126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536825" y="1125538"/>
            <a:ext cx="2328863" cy="47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14888" y="1125538"/>
            <a:ext cx="2235200" cy="444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9525" y="1125538"/>
            <a:ext cx="2581275" cy="47625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630738" y="6550025"/>
            <a:ext cx="2328862" cy="492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07213" y="6550025"/>
            <a:ext cx="2236787" cy="4603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84388" y="6550025"/>
            <a:ext cx="2579687" cy="49213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D944CE-AF07-49DB-AFB6-C2F5FA0F72D8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D59A8A-7DBD-46DB-811A-0FD3F62D594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57200" y="739202"/>
            <a:ext cx="625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Advancements in surveying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85720" y="1441440"/>
            <a:ext cx="82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57200" y="1441440"/>
            <a:ext cx="81153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TRIMBLE S8 – Most advanced Total Station To date</a:t>
            </a:r>
          </a:p>
          <a:p>
            <a:endParaRPr lang="en-US" b="1" dirty="0" smtClean="0"/>
          </a:p>
          <a:p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Distomat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DI 1000  - 500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metres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Geodimeter  - measures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upto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3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kms</a:t>
            </a:r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Tellurometer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 - 100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kms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(highly skilled persons are required) 2 required.</a:t>
            </a:r>
          </a:p>
          <a:p>
            <a:endParaRPr lang="en-US" dirty="0" smtClean="0"/>
          </a:p>
          <a:p>
            <a:r>
              <a:rPr lang="en-US" dirty="0" smtClean="0"/>
              <a:t>Electronic Theodolite</a:t>
            </a:r>
          </a:p>
          <a:p>
            <a:endParaRPr lang="en-US" dirty="0" smtClean="0"/>
          </a:p>
          <a:p>
            <a:r>
              <a:rPr lang="en-US" dirty="0" smtClean="0"/>
              <a:t>Electronic Theodolite</a:t>
            </a:r>
          </a:p>
          <a:p>
            <a:endParaRPr lang="en-US" dirty="0" smtClean="0"/>
          </a:p>
          <a:p>
            <a:r>
              <a:rPr lang="en-US" dirty="0" smtClean="0"/>
              <a:t>Global Positioning System</a:t>
            </a:r>
          </a:p>
          <a:p>
            <a:endParaRPr lang="en-US" dirty="0" smtClean="0"/>
          </a:p>
          <a:p>
            <a:r>
              <a:rPr lang="en-US" dirty="0" smtClean="0"/>
              <a:t>Automatic Level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Box 14"/>
          <p:cNvSpPr txBox="1">
            <a:spLocks noChangeArrowheads="1"/>
          </p:cNvSpPr>
          <p:nvPr/>
        </p:nvSpPr>
        <p:spPr bwMode="auto">
          <a:xfrm>
            <a:off x="7369175" y="6596063"/>
            <a:ext cx="1838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BITS</a:t>
            </a:r>
            <a:r>
              <a:rPr lang="en-US" sz="1100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Pilani</a:t>
            </a:r>
            <a:r>
              <a:rPr lang="en-US" sz="1100" dirty="0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, Pilani Campus</a:t>
            </a:r>
          </a:p>
        </p:txBody>
      </p:sp>
      <p:pic>
        <p:nvPicPr>
          <p:cNvPr id="7172" name="Picture 15" descr="Picture 7.png"/>
          <p:cNvPicPr>
            <a:picLocks noChangeAspect="1"/>
          </p:cNvPicPr>
          <p:nvPr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7764463" y="0"/>
            <a:ext cx="121126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536825" y="1125538"/>
            <a:ext cx="2328863" cy="47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14888" y="1125538"/>
            <a:ext cx="2235200" cy="444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9525" y="1125538"/>
            <a:ext cx="2581275" cy="47625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630738" y="6550025"/>
            <a:ext cx="2328862" cy="492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07213" y="6550025"/>
            <a:ext cx="2236787" cy="4603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84388" y="6550025"/>
            <a:ext cx="2579687" cy="49213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D944CE-AF07-49DB-AFB6-C2F5FA0F72D8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D59A8A-7DBD-46DB-811A-0FD3F62D594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57200" y="739202"/>
            <a:ext cx="625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Electro magnetic Distance Measurements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85720" y="1441440"/>
            <a:ext cx="82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57200" y="1441440"/>
            <a:ext cx="85185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accuracy of direct measurement and optical measurements is very limited. EDM can measure accuracy up to 1 in 100000 and can measure </a:t>
            </a:r>
            <a:r>
              <a:rPr lang="en-US" dirty="0" err="1" smtClean="0"/>
              <a:t>upto</a:t>
            </a:r>
            <a:r>
              <a:rPr lang="en-US" dirty="0" smtClean="0"/>
              <a:t> 100 </a:t>
            </a:r>
            <a:r>
              <a:rPr lang="en-US" dirty="0" err="1" smtClean="0"/>
              <a:t>kms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Depends on generation, propagation, reflection and receiving of waves.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Waves can be typically of radio waves, infra red and visible light …..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r>
              <a:rPr lang="en-US" dirty="0" smtClean="0"/>
              <a:t>50 different EDMs are available in market</a:t>
            </a:r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pPr>
              <a:buFont typeface="Wingdings" pitchFamily="2" charset="2"/>
              <a:buChar char="ü"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Box 14"/>
          <p:cNvSpPr txBox="1">
            <a:spLocks noChangeArrowheads="1"/>
          </p:cNvSpPr>
          <p:nvPr/>
        </p:nvSpPr>
        <p:spPr bwMode="auto">
          <a:xfrm>
            <a:off x="7369175" y="6596063"/>
            <a:ext cx="1838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BITS</a:t>
            </a:r>
            <a:r>
              <a:rPr lang="en-US" sz="1100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Pilani</a:t>
            </a:r>
            <a:r>
              <a:rPr lang="en-US" sz="1100" dirty="0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, Pilani Campus</a:t>
            </a:r>
          </a:p>
        </p:txBody>
      </p:sp>
      <p:pic>
        <p:nvPicPr>
          <p:cNvPr id="7172" name="Picture 15" descr="Picture 7.png"/>
          <p:cNvPicPr>
            <a:picLocks noChangeAspect="1"/>
          </p:cNvPicPr>
          <p:nvPr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7764463" y="0"/>
            <a:ext cx="121126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536825" y="1125538"/>
            <a:ext cx="2328863" cy="47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14888" y="1125538"/>
            <a:ext cx="2235200" cy="444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9525" y="1125538"/>
            <a:ext cx="2581275" cy="47625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630738" y="6550025"/>
            <a:ext cx="2328862" cy="492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07213" y="6550025"/>
            <a:ext cx="2236787" cy="4603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84388" y="6550025"/>
            <a:ext cx="2579687" cy="49213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D944CE-AF07-49DB-AFB6-C2F5FA0F72D8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D59A8A-7DBD-46DB-811A-0FD3F62D594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95260" y="602318"/>
            <a:ext cx="8134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Electro-magnetic  Distance Measurements</a:t>
            </a:r>
            <a:endParaRPr lang="en-US" sz="28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285720" y="1441440"/>
            <a:ext cx="82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57200" y="1278037"/>
            <a:ext cx="8115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57200" y="1278037"/>
            <a:ext cx="71866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u="sng" dirty="0" err="1" smtClean="0"/>
              <a:t>Distomat</a:t>
            </a:r>
            <a:r>
              <a:rPr lang="en-US" b="1" u="sng" dirty="0" smtClean="0"/>
              <a:t> (Short and Medium distance measurements) :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very small, compact electronic distance measurement device, particularly useful in construction and engineering works.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err="1" smtClean="0"/>
              <a:t>Distomat</a:t>
            </a:r>
            <a:r>
              <a:rPr lang="en-US" dirty="0" smtClean="0"/>
              <a:t> measures distances smaller than 500 meters by simply pointing the instrument to a reflector and reading the result.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Uses infra red waves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" y="4000504"/>
            <a:ext cx="79724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/>
              <a:t>Geodimeter</a:t>
            </a:r>
          </a:p>
          <a:p>
            <a:r>
              <a:rPr lang="en-US" dirty="0" smtClean="0"/>
              <a:t>The Geodimeter is often used for nighttime observations and can measure distances up to 3 kilometers. </a:t>
            </a:r>
          </a:p>
          <a:p>
            <a:endParaRPr lang="en-US" dirty="0" smtClean="0"/>
          </a:p>
          <a:p>
            <a:r>
              <a:rPr lang="en-US" dirty="0" smtClean="0"/>
              <a:t>As this instrument measures distances based on the propagation of </a:t>
            </a:r>
            <a:r>
              <a:rPr lang="en-US" i="1" dirty="0" smtClean="0">
                <a:solidFill>
                  <a:srgbClr val="FF0000"/>
                </a:solidFill>
              </a:rPr>
              <a:t>modulated light waves</a:t>
            </a:r>
            <a:r>
              <a:rPr lang="en-US" dirty="0" smtClean="0"/>
              <a:t>, it requires a prism system at the end of the distance you are measuring to reflect the waves.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Box 14"/>
          <p:cNvSpPr txBox="1">
            <a:spLocks noChangeArrowheads="1"/>
          </p:cNvSpPr>
          <p:nvPr/>
        </p:nvSpPr>
        <p:spPr bwMode="auto">
          <a:xfrm>
            <a:off x="7369175" y="6596063"/>
            <a:ext cx="1838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BITS</a:t>
            </a:r>
            <a:r>
              <a:rPr lang="en-US" sz="1100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Pilani</a:t>
            </a:r>
            <a:r>
              <a:rPr lang="en-US" sz="1100" dirty="0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, Pilani Campus</a:t>
            </a:r>
          </a:p>
        </p:txBody>
      </p:sp>
      <p:pic>
        <p:nvPicPr>
          <p:cNvPr id="7172" name="Picture 15" descr="Picture 7.png"/>
          <p:cNvPicPr>
            <a:picLocks noChangeAspect="1"/>
          </p:cNvPicPr>
          <p:nvPr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7764463" y="0"/>
            <a:ext cx="121126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536825" y="1125538"/>
            <a:ext cx="2328863" cy="47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14888" y="1125538"/>
            <a:ext cx="2235200" cy="444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9525" y="1125538"/>
            <a:ext cx="2581275" cy="47625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630738" y="6550025"/>
            <a:ext cx="2328862" cy="492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07213" y="6550025"/>
            <a:ext cx="2236787" cy="4603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84388" y="6550025"/>
            <a:ext cx="2579687" cy="49213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D944CE-AF07-49DB-AFB6-C2F5FA0F72D8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D59A8A-7DBD-46DB-811A-0FD3F62D594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85720" y="1441440"/>
            <a:ext cx="82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57200" y="1278037"/>
            <a:ext cx="8115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57200" y="1278037"/>
            <a:ext cx="8229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err="1" smtClean="0"/>
              <a:t>Tellurometer</a:t>
            </a:r>
            <a:r>
              <a:rPr lang="en-US" b="1" u="sng" dirty="0" smtClean="0"/>
              <a:t> (Long range distance measuring device)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err="1" smtClean="0"/>
              <a:t>Tellurometer</a:t>
            </a:r>
            <a:r>
              <a:rPr lang="en-US" dirty="0" smtClean="0"/>
              <a:t> is an electronic distance measurement device that uses high frequency radio waves or microwaves.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This highly portable instrument works on 12 to 24 volt batteries and can be used day or night.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Two Tellurometers are required to measure distances of up to 100 kilometers.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A highly skilled person needs to be at each end of the surveyed area to take measurements.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One </a:t>
            </a:r>
            <a:r>
              <a:rPr lang="en-US" dirty="0" err="1" smtClean="0"/>
              <a:t>Tellurometer</a:t>
            </a:r>
            <a:r>
              <a:rPr lang="en-US" dirty="0" smtClean="0"/>
              <a:t> is then used as the master, and the other as the remote unit.</a:t>
            </a:r>
          </a:p>
          <a:p>
            <a:pPr algn="just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285720" y="602318"/>
            <a:ext cx="8134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Electro-magnetic  Distance Measurements</a:t>
            </a:r>
            <a:endParaRPr lang="en-US" sz="28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Box 14"/>
          <p:cNvSpPr txBox="1">
            <a:spLocks noChangeArrowheads="1"/>
          </p:cNvSpPr>
          <p:nvPr/>
        </p:nvSpPr>
        <p:spPr bwMode="auto">
          <a:xfrm>
            <a:off x="7369175" y="6596063"/>
            <a:ext cx="1838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BITS</a:t>
            </a:r>
            <a:r>
              <a:rPr lang="en-US" sz="1100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Pilani</a:t>
            </a:r>
            <a:r>
              <a:rPr lang="en-US" sz="1100" dirty="0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, Pilani Campus</a:t>
            </a:r>
          </a:p>
        </p:txBody>
      </p:sp>
      <p:pic>
        <p:nvPicPr>
          <p:cNvPr id="7172" name="Picture 15" descr="Picture 7.png"/>
          <p:cNvPicPr>
            <a:picLocks noChangeAspect="1"/>
          </p:cNvPicPr>
          <p:nvPr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7764463" y="0"/>
            <a:ext cx="121126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536825" y="1125538"/>
            <a:ext cx="2328863" cy="47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14888" y="1125538"/>
            <a:ext cx="2235200" cy="444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9525" y="1125538"/>
            <a:ext cx="2581275" cy="47625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630738" y="6550025"/>
            <a:ext cx="2328862" cy="492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07213" y="6550025"/>
            <a:ext cx="2236787" cy="4603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84388" y="6550025"/>
            <a:ext cx="2579687" cy="49213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D944CE-AF07-49DB-AFB6-C2F5FA0F72D8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D59A8A-7DBD-46DB-811A-0FD3F62D594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85720" y="1441440"/>
            <a:ext cx="82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95260" y="602318"/>
            <a:ext cx="8134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Total Station</a:t>
            </a:r>
            <a:endParaRPr lang="en-US" sz="28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457200" y="1441440"/>
            <a:ext cx="811532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 is a combination of electronic theodolite and distance measuring device.</a:t>
            </a:r>
          </a:p>
          <a:p>
            <a:endParaRPr lang="en-US" dirty="0" smtClean="0"/>
          </a:p>
          <a:p>
            <a:r>
              <a:rPr lang="en-US" dirty="0" smtClean="0"/>
              <a:t>Measures only three parameters, Horizontal angle, vertical angle and slope distance……</a:t>
            </a:r>
          </a:p>
          <a:p>
            <a:endParaRPr lang="en-US" dirty="0" smtClean="0"/>
          </a:p>
          <a:p>
            <a:r>
              <a:rPr lang="en-US" dirty="0" smtClean="0"/>
              <a:t>Total station is also provided with a data logger….</a:t>
            </a:r>
          </a:p>
          <a:p>
            <a:endParaRPr lang="en-US" dirty="0" smtClean="0"/>
          </a:p>
          <a:p>
            <a:r>
              <a:rPr lang="en-US" dirty="0" smtClean="0"/>
              <a:t>Most total stations can measure angle even </a:t>
            </a:r>
            <a:r>
              <a:rPr lang="en-US" dirty="0" err="1" smtClean="0"/>
              <a:t>upto</a:t>
            </a:r>
            <a:r>
              <a:rPr lang="en-US" dirty="0" smtClean="0"/>
              <a:t> 5 seconds….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i="1" dirty="0" smtClean="0"/>
              <a:t>Physics of making measurements</a:t>
            </a:r>
          </a:p>
          <a:p>
            <a:pPr>
              <a:buFont typeface="Arial" pitchFamily="34" charset="0"/>
              <a:buChar char="•"/>
            </a:pPr>
            <a:endParaRPr lang="en-US" i="1" dirty="0" smtClean="0"/>
          </a:p>
          <a:p>
            <a:pPr>
              <a:buFont typeface="Arial" pitchFamily="34" charset="0"/>
              <a:buChar char="•"/>
            </a:pPr>
            <a:r>
              <a:rPr lang="en-US" i="1" dirty="0" smtClean="0"/>
              <a:t>Geometry of calculations</a:t>
            </a:r>
          </a:p>
          <a:p>
            <a:pPr>
              <a:buFont typeface="Arial" pitchFamily="34" charset="0"/>
              <a:buChar char="•"/>
            </a:pPr>
            <a:endParaRPr lang="en-US" i="1" dirty="0" smtClean="0"/>
          </a:p>
          <a:p>
            <a:pPr>
              <a:buFont typeface="Arial" pitchFamily="34" charset="0"/>
              <a:buChar char="•"/>
            </a:pPr>
            <a:r>
              <a:rPr lang="en-US" i="1" dirty="0" smtClean="0"/>
              <a:t>Statistics for analyzing the data of a traverse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Box 14"/>
          <p:cNvSpPr txBox="1">
            <a:spLocks noChangeArrowheads="1"/>
          </p:cNvSpPr>
          <p:nvPr/>
        </p:nvSpPr>
        <p:spPr bwMode="auto">
          <a:xfrm>
            <a:off x="7369175" y="6596063"/>
            <a:ext cx="1838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BITS</a:t>
            </a:r>
            <a:r>
              <a:rPr lang="en-US" sz="1100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Pilani</a:t>
            </a:r>
            <a:r>
              <a:rPr lang="en-US" sz="1100" dirty="0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, Pilani Campus</a:t>
            </a:r>
          </a:p>
        </p:txBody>
      </p:sp>
      <p:pic>
        <p:nvPicPr>
          <p:cNvPr id="7172" name="Picture 15" descr="Picture 7.png"/>
          <p:cNvPicPr>
            <a:picLocks noChangeAspect="1"/>
          </p:cNvPicPr>
          <p:nvPr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7764463" y="0"/>
            <a:ext cx="121126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536825" y="1125538"/>
            <a:ext cx="2328863" cy="47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14888" y="1125538"/>
            <a:ext cx="2235200" cy="444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9525" y="1125538"/>
            <a:ext cx="2581275" cy="47625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630738" y="6550025"/>
            <a:ext cx="2328862" cy="492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07213" y="6550025"/>
            <a:ext cx="2236787" cy="4603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84388" y="6550025"/>
            <a:ext cx="2579687" cy="49213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D944CE-AF07-49DB-AFB6-C2F5FA0F72D8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D59A8A-7DBD-46DB-811A-0FD3F62D594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85720" y="1441440"/>
            <a:ext cx="82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95260" y="602318"/>
            <a:ext cx="8134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Recent Advancements….</a:t>
            </a:r>
            <a:endParaRPr lang="en-US" sz="2800" b="1" dirty="0"/>
          </a:p>
        </p:txBody>
      </p:sp>
      <p:sp>
        <p:nvSpPr>
          <p:cNvPr id="21" name="Rectangle 20"/>
          <p:cNvSpPr/>
          <p:nvPr/>
        </p:nvSpPr>
        <p:spPr>
          <a:xfrm>
            <a:off x="304800" y="1441440"/>
            <a:ext cx="826772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/>
              <a:t>Land Surveys complements its traditional surveying services with affordable, rapid response aerial surveying with Unmanned Aerial Vehicles (</a:t>
            </a:r>
            <a:r>
              <a:rPr lang="en-US" dirty="0" err="1" smtClean="0"/>
              <a:t>UAV</a:t>
            </a:r>
            <a:r>
              <a:rPr lang="en-US" dirty="0" smtClean="0"/>
              <a:t>) delivering spatial data in mining environments for production, asset, environment and heritage management as well as for infrastructure planning and </a:t>
            </a:r>
            <a:r>
              <a:rPr lang="en-US" dirty="0" err="1" smtClean="0"/>
              <a:t>greenfield</a:t>
            </a:r>
            <a:r>
              <a:rPr lang="en-US" dirty="0" smtClean="0"/>
              <a:t> exploration.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extBox 14"/>
          <p:cNvSpPr txBox="1">
            <a:spLocks noChangeArrowheads="1"/>
          </p:cNvSpPr>
          <p:nvPr/>
        </p:nvSpPr>
        <p:spPr bwMode="auto">
          <a:xfrm>
            <a:off x="7369175" y="6596063"/>
            <a:ext cx="1838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BITS</a:t>
            </a:r>
            <a:r>
              <a:rPr lang="en-US" sz="1100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Pilani</a:t>
            </a:r>
            <a:r>
              <a:rPr lang="en-US" sz="1100" dirty="0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, Pilani Campus</a:t>
            </a:r>
          </a:p>
        </p:txBody>
      </p:sp>
      <p:pic>
        <p:nvPicPr>
          <p:cNvPr id="7172" name="Picture 15" descr="Picture 7.png"/>
          <p:cNvPicPr>
            <a:picLocks noChangeAspect="1"/>
          </p:cNvPicPr>
          <p:nvPr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7764463" y="0"/>
            <a:ext cx="121126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536825" y="1125538"/>
            <a:ext cx="2328863" cy="47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14888" y="1125538"/>
            <a:ext cx="2235200" cy="444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9525" y="1125538"/>
            <a:ext cx="2581275" cy="47625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630738" y="6550025"/>
            <a:ext cx="2328862" cy="492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07213" y="6550025"/>
            <a:ext cx="2236787" cy="4603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84388" y="6550025"/>
            <a:ext cx="2579687" cy="49213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D944CE-AF07-49DB-AFB6-C2F5FA0F72D8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D59A8A-7DBD-46DB-811A-0FD3F62D594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85720" y="1441440"/>
            <a:ext cx="8286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95260" y="602318"/>
            <a:ext cx="8134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Recent Advancements….</a:t>
            </a:r>
            <a:endParaRPr lang="en-US" sz="28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285720" y="1441440"/>
            <a:ext cx="78581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Photogrammetry:</a:t>
            </a:r>
          </a:p>
          <a:p>
            <a:endParaRPr lang="en-US" dirty="0" smtClean="0"/>
          </a:p>
          <a:p>
            <a:r>
              <a:rPr lang="en-US" dirty="0" smtClean="0"/>
              <a:t>Terrestrial [Terrestrial camera]</a:t>
            </a:r>
          </a:p>
          <a:p>
            <a:r>
              <a:rPr lang="en-US" dirty="0" smtClean="0"/>
              <a:t>Aerial [Aerial camera]</a:t>
            </a:r>
          </a:p>
          <a:p>
            <a:endParaRPr lang="en-US" dirty="0" smtClean="0"/>
          </a:p>
          <a:p>
            <a:r>
              <a:rPr lang="en-US" dirty="0" smtClean="0"/>
              <a:t>Photo-</a:t>
            </a:r>
            <a:r>
              <a:rPr lang="en-US" dirty="0" err="1" smtClean="0"/>
              <a:t>Thedolite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Remote Sensing….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/>
          <p:cNvSpPr txBox="1">
            <a:spLocks/>
          </p:cNvSpPr>
          <p:nvPr/>
        </p:nvSpPr>
        <p:spPr bwMode="auto">
          <a:xfrm>
            <a:off x="381000" y="1384300"/>
            <a:ext cx="7696200" cy="513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1" defTabSz="914400">
              <a:lnSpc>
                <a:spcPct val="150000"/>
              </a:lnSpc>
              <a:spcBef>
                <a:spcPct val="20000"/>
              </a:spcBef>
              <a:buClr>
                <a:srgbClr val="000090"/>
              </a:buClr>
              <a:buFont typeface="Arial" pitchFamily="34" charset="0"/>
              <a:buChar char="•"/>
            </a:pPr>
            <a:endParaRPr lang="en-US" sz="1400">
              <a:solidFill>
                <a:srgbClr val="101141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10244" name="TextBox 14"/>
          <p:cNvSpPr txBox="1">
            <a:spLocks noChangeArrowheads="1"/>
          </p:cNvSpPr>
          <p:nvPr/>
        </p:nvSpPr>
        <p:spPr bwMode="auto">
          <a:xfrm>
            <a:off x="7369175" y="6596063"/>
            <a:ext cx="1838325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100" b="1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BITS</a:t>
            </a:r>
            <a:r>
              <a:rPr lang="en-US" sz="1100" dirty="0" err="1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Pilani</a:t>
            </a:r>
            <a:r>
              <a:rPr lang="en-US" sz="1100" dirty="0">
                <a:solidFill>
                  <a:srgbClr val="101141"/>
                </a:solidFill>
                <a:latin typeface="Helvetica" pitchFamily="34" charset="0"/>
                <a:cs typeface="Helvetica" pitchFamily="34" charset="0"/>
              </a:rPr>
              <a:t>, Pilani Campus</a:t>
            </a:r>
          </a:p>
        </p:txBody>
      </p:sp>
      <p:pic>
        <p:nvPicPr>
          <p:cNvPr id="10245" name="Picture 15" descr="Picture 7.png"/>
          <p:cNvPicPr>
            <a:picLocks noChangeAspect="1"/>
          </p:cNvPicPr>
          <p:nvPr/>
        </p:nvPicPr>
        <p:blipFill>
          <a:blip r:embed="rId2"/>
          <a:srcRect l="1923" b="5336"/>
          <a:stretch>
            <a:fillRect/>
          </a:stretch>
        </p:blipFill>
        <p:spPr bwMode="auto">
          <a:xfrm>
            <a:off x="7764463" y="0"/>
            <a:ext cx="1211262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2536825" y="1293813"/>
            <a:ext cx="2328863" cy="47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814888" y="1293813"/>
            <a:ext cx="2235200" cy="4445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-9525" y="1293813"/>
            <a:ext cx="2581275" cy="47625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630738" y="6550025"/>
            <a:ext cx="2328862" cy="4921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6907213" y="6550025"/>
            <a:ext cx="2236787" cy="46038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084388" y="6550025"/>
            <a:ext cx="2579687" cy="49213"/>
          </a:xfrm>
          <a:prstGeom prst="rect">
            <a:avLst/>
          </a:prstGeom>
          <a:solidFill>
            <a:srgbClr val="FFC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15925" y="1714488"/>
            <a:ext cx="71485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/>
              <a:t>Thank you very much for the kind attention</a:t>
            </a:r>
            <a:endParaRPr lang="en-US" sz="4800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2723EB-0E9C-486A-94E3-6E248798A952}" type="datetime1">
              <a:rPr lang="en-US" smtClean="0"/>
              <a:pPr>
                <a:defRPr/>
              </a:pPr>
              <a:t>11/25/2014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D59A8A-7DBD-46DB-811A-0FD3F62D594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17" name="Picture 11" descr="logo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4200993"/>
            <a:ext cx="2133858" cy="2155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1941</TotalTime>
  <Words>511</Words>
  <Application>Microsoft Office PowerPoint</Application>
  <PresentationFormat>On-screen Show (4:3)</PresentationFormat>
  <Paragraphs>117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ambiaance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Priyanka Agrawal</dc:creator>
  <cp:lastModifiedBy>dell</cp:lastModifiedBy>
  <cp:revision>403</cp:revision>
  <dcterms:created xsi:type="dcterms:W3CDTF">2011-05-03T06:18:41Z</dcterms:created>
  <dcterms:modified xsi:type="dcterms:W3CDTF">2014-11-25T06:05:34Z</dcterms:modified>
</cp:coreProperties>
</file>