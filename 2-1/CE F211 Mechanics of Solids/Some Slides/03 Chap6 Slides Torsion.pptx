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74" r:id="rId15"/>
    <p:sldId id="275" r:id="rId16"/>
    <p:sldId id="269" r:id="rId17"/>
    <p:sldId id="270" r:id="rId18"/>
    <p:sldId id="271" r:id="rId19"/>
    <p:sldId id="282" r:id="rId20"/>
    <p:sldId id="286" r:id="rId21"/>
    <p:sldId id="287" r:id="rId22"/>
    <p:sldId id="289" r:id="rId23"/>
    <p:sldId id="288" r:id="rId24"/>
    <p:sldId id="283" r:id="rId25"/>
    <p:sldId id="284" r:id="rId26"/>
    <p:sldId id="290" r:id="rId27"/>
    <p:sldId id="291"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3CC7385C-1634-4926-B3BB-C862AC4AFED8}" type="datetimeFigureOut">
              <a:rPr lang="en-US" smtClean="0"/>
              <a:pPr/>
              <a:t>11/2/2023</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4C4474D5-F1B9-4C5F-B4E9-414D5F573C7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CC7385C-1634-4926-B3BB-C862AC4AFED8}" type="datetimeFigureOut">
              <a:rPr lang="en-US" smtClean="0"/>
              <a:pPr/>
              <a:t>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4474D5-F1B9-4C5F-B4E9-414D5F573C70}" type="slidenum">
              <a:rPr lang="en-US" smtClean="0"/>
              <a:pPr/>
              <a:t>‹#›</a:t>
            </a:fld>
            <a:endParaRPr lang="en-US"/>
          </a:p>
        </p:txBody>
      </p:sp>
      <p:sp>
        <p:nvSpPr>
          <p:cNvPr id="7" name="Title 6"/>
          <p:cNvSpPr>
            <a:spLocks noGrp="1"/>
          </p:cNvSpPr>
          <p:nvPr>
            <p:ph type="title"/>
          </p:nvPr>
        </p:nvSpPr>
        <p:spPr/>
        <p:txBody>
          <a:bodyPr rtlCol="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CC7385C-1634-4926-B3BB-C862AC4AFED8}" type="datetimeFigureOut">
              <a:rPr lang="en-US" smtClean="0"/>
              <a:pPr/>
              <a:t>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4474D5-F1B9-4C5F-B4E9-414D5F573C70}"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CC7385C-1634-4926-B3BB-C862AC4AFED8}" type="datetimeFigureOut">
              <a:rPr lang="en-US" smtClean="0"/>
              <a:pPr/>
              <a:t>11/2/2023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4474D5-F1B9-4C5F-B4E9-414D5F573C70}" type="slidenum">
              <a:rPr lang="en-US" smtClean="0"/>
              <a:pPr/>
              <a:t>‹#›</a:t>
            </a:fld>
            <a:endParaRPr lang="en-US"/>
          </a:p>
        </p:txBody>
      </p:sp>
      <p:sp>
        <p:nvSpPr>
          <p:cNvPr id="8" name="Title 7"/>
          <p:cNvSpPr>
            <a:spLocks noGrp="1"/>
          </p:cNvSpPr>
          <p:nvPr>
            <p:ph type="title"/>
          </p:nvPr>
        </p:nvSpPr>
        <p:spPr/>
        <p:txBody>
          <a:bodyPr rtlCol="0"/>
          <a:lstStyle/>
          <a:p>
            <a:r>
              <a:rPr kumimoji="0" lang="en-US" smtClean="0"/>
              <a:t>Click to edit Master title style</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CC7385C-1634-4926-B3BB-C862AC4AFED8}" type="datetimeFigureOut">
              <a:rPr lang="en-US" smtClean="0"/>
              <a:pPr/>
              <a:t>11/2/2023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474D5-F1B9-4C5F-B4E9-414D5F573C7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CC7385C-1634-4926-B3BB-C862AC4AFED8}" type="datetimeFigureOut">
              <a:rPr lang="en-US" smtClean="0"/>
              <a:pPr/>
              <a:t>11/2/2023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4474D5-F1B9-4C5F-B4E9-414D5F573C70}" type="slidenum">
              <a:rPr lang="en-US" smtClean="0"/>
              <a:pPr/>
              <a:t>‹#›</a:t>
            </a:fld>
            <a:endParaRPr lang="en-US"/>
          </a:p>
        </p:txBody>
      </p:sp>
      <p:sp>
        <p:nvSpPr>
          <p:cNvPr id="6" name="Title 5"/>
          <p:cNvSpPr>
            <a:spLocks noGrp="1"/>
          </p:cNvSpPr>
          <p:nvPr>
            <p:ph type="title"/>
          </p:nvPr>
        </p:nvSpPr>
        <p:spPr/>
        <p:txBody>
          <a:bodyPr rtlCol="0"/>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C7385C-1634-4926-B3BB-C862AC4AFED8}" type="datetimeFigureOut">
              <a:rPr lang="en-US" smtClean="0"/>
              <a:pPr/>
              <a:t>11/2/2023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4474D5-F1B9-4C5F-B4E9-414D5F573C7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3CC7385C-1634-4926-B3BB-C862AC4AFED8}" type="datetimeFigureOut">
              <a:rPr lang="en-US" smtClean="0"/>
              <a:pPr/>
              <a:t>11/2/2023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4474D5-F1B9-4C5F-B4E9-414D5F573C7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3CC7385C-1634-4926-B3BB-C862AC4AFED8}" type="datetimeFigureOut">
              <a:rPr lang="en-US" smtClean="0"/>
              <a:pPr/>
              <a:t>11/2/2023</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4C4474D5-F1B9-4C5F-B4E9-414D5F573C70}"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CC7385C-1634-4926-B3BB-C862AC4AFED8}" type="datetimeFigureOut">
              <a:rPr lang="en-US" smtClean="0"/>
              <a:pPr/>
              <a:t>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4474D5-F1B9-4C5F-B4E9-414D5F573C7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CC7385C-1634-4926-B3BB-C862AC4AFED8}" type="datetimeFigureOut">
              <a:rPr lang="en-US" smtClean="0"/>
              <a:pPr/>
              <a:t>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4474D5-F1B9-4C5F-B4E9-414D5F573C7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3CC7385C-1634-4926-B3BB-C862AC4AFED8}" type="datetimeFigureOut">
              <a:rPr lang="en-US" smtClean="0"/>
              <a:pPr/>
              <a:t>11/2/2023</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4C4474D5-F1B9-4C5F-B4E9-414D5F573C7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8.wmf"/><Relationship Id="rId5" Type="http://schemas.openxmlformats.org/officeDocument/2006/relationships/oleObject" Target="../embeddings/oleObject2.bin"/><Relationship Id="rId4" Type="http://schemas.openxmlformats.org/officeDocument/2006/relationships/image" Target="../media/image27.wmf"/></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4410415" y="3352800"/>
            <a:ext cx="4733585" cy="3505200"/>
          </a:xfrm>
          <a:prstGeom prst="rect">
            <a:avLst/>
          </a:prstGeom>
          <a:noFill/>
          <a:ln w="9525">
            <a:noFill/>
            <a:miter lim="800000"/>
            <a:headEnd/>
            <a:tailEnd/>
          </a:ln>
        </p:spPr>
      </p:pic>
      <p:sp>
        <p:nvSpPr>
          <p:cNvPr id="2" name="Title 1"/>
          <p:cNvSpPr>
            <a:spLocks noGrp="1"/>
          </p:cNvSpPr>
          <p:nvPr>
            <p:ph type="ctrTitle"/>
          </p:nvPr>
        </p:nvSpPr>
        <p:spPr>
          <a:xfrm>
            <a:off x="1371600" y="0"/>
            <a:ext cx="7772400" cy="1829761"/>
          </a:xfrm>
        </p:spPr>
        <p:txBody>
          <a:bodyPr/>
          <a:lstStyle/>
          <a:p>
            <a:r>
              <a:rPr lang="en-US" dirty="0" smtClean="0"/>
              <a:t>TORSION</a:t>
            </a:r>
            <a:endParaRPr lang="en-US" dirty="0"/>
          </a:p>
        </p:txBody>
      </p:sp>
      <p:sp>
        <p:nvSpPr>
          <p:cNvPr id="3" name="Subtitle 2"/>
          <p:cNvSpPr>
            <a:spLocks noGrp="1"/>
          </p:cNvSpPr>
          <p:nvPr>
            <p:ph type="subTitle" idx="1"/>
          </p:nvPr>
        </p:nvSpPr>
        <p:spPr>
          <a:xfrm>
            <a:off x="1371600" y="1676400"/>
            <a:ext cx="7772400" cy="1199704"/>
          </a:xfrm>
        </p:spPr>
        <p:txBody>
          <a:bodyPr/>
          <a:lstStyle/>
          <a:p>
            <a:r>
              <a:rPr lang="en-US" dirty="0" smtClean="0"/>
              <a:t>Chapter 6</a:t>
            </a:r>
            <a:endParaRPr lang="en-US" dirty="0"/>
          </a:p>
        </p:txBody>
      </p:sp>
      <p:pic>
        <p:nvPicPr>
          <p:cNvPr id="1026" name="Picture 2"/>
          <p:cNvPicPr>
            <a:picLocks noChangeAspect="1" noChangeArrowheads="1"/>
          </p:cNvPicPr>
          <p:nvPr/>
        </p:nvPicPr>
        <p:blipFill>
          <a:blip r:embed="rId3" cstate="print"/>
          <a:srcRect l="10127" r="5063" b="11979"/>
          <a:stretch>
            <a:fillRect/>
          </a:stretch>
        </p:blipFill>
        <p:spPr bwMode="auto">
          <a:xfrm>
            <a:off x="0" y="0"/>
            <a:ext cx="5105400" cy="3733800"/>
          </a:xfrm>
          <a:prstGeom prst="rect">
            <a:avLst/>
          </a:prstGeom>
          <a:noFill/>
          <a:ln w="9525">
            <a:noFill/>
            <a:miter lim="800000"/>
            <a:headEnd/>
            <a:tailEnd/>
          </a:ln>
        </p:spPr>
      </p:pic>
      <p:pic>
        <p:nvPicPr>
          <p:cNvPr id="37890" name="Picture 2" descr="See the source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3863975"/>
            <a:ext cx="4410922" cy="29178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46075" y="346075"/>
            <a:ext cx="8683625" cy="457200"/>
          </a:xfrm>
          <a:ln/>
        </p:spPr>
        <p:txBody>
          <a:bodyPr>
            <a:normAutofit fontScale="90000"/>
          </a:bodyPr>
          <a:lstStyle/>
          <a:p>
            <a:r>
              <a:rPr lang="en-US"/>
              <a:t>Torsional Loads on Circular Shafts</a:t>
            </a:r>
          </a:p>
        </p:txBody>
      </p:sp>
      <p:sp>
        <p:nvSpPr>
          <p:cNvPr id="5125" name="Text Box 5"/>
          <p:cNvSpPr txBox="1">
            <a:spLocks noChangeArrowheads="1"/>
          </p:cNvSpPr>
          <p:nvPr/>
        </p:nvSpPr>
        <p:spPr bwMode="auto">
          <a:xfrm>
            <a:off x="4724400" y="1219200"/>
            <a:ext cx="4114800" cy="1323439"/>
          </a:xfrm>
          <a:prstGeom prst="rect">
            <a:avLst/>
          </a:prstGeom>
          <a:noFill/>
          <a:ln w="9525">
            <a:noFill/>
            <a:miter lim="800000"/>
            <a:headEnd/>
            <a:tailEnd/>
          </a:ln>
          <a:effectLst/>
        </p:spPr>
        <p:txBody>
          <a:bodyPr>
            <a:spAutoFit/>
          </a:bodyPr>
          <a:lstStyle/>
          <a:p>
            <a:pPr marL="231775" indent="-231775" algn="just">
              <a:spcBef>
                <a:spcPct val="50000"/>
              </a:spcBef>
              <a:buFontTx/>
              <a:buChar char="•"/>
            </a:pPr>
            <a:r>
              <a:rPr lang="en-US" sz="2000" dirty="0"/>
              <a:t>Interested in stresses and strains of circular shafts subjected to twisting couples or </a:t>
            </a:r>
            <a:r>
              <a:rPr lang="en-US" sz="2000" i="1" dirty="0"/>
              <a:t>torques</a:t>
            </a:r>
            <a:endParaRPr lang="en-US" sz="2000" dirty="0"/>
          </a:p>
        </p:txBody>
      </p:sp>
      <p:grpSp>
        <p:nvGrpSpPr>
          <p:cNvPr id="2" name="Group 8"/>
          <p:cNvGrpSpPr>
            <a:grpSpLocks/>
          </p:cNvGrpSpPr>
          <p:nvPr/>
        </p:nvGrpSpPr>
        <p:grpSpPr bwMode="auto">
          <a:xfrm>
            <a:off x="461963" y="1016000"/>
            <a:ext cx="4211637" cy="4375150"/>
            <a:chOff x="288" y="624"/>
            <a:chExt cx="2880" cy="2991"/>
          </a:xfrm>
        </p:grpSpPr>
        <p:pic>
          <p:nvPicPr>
            <p:cNvPr id="5126" name="Picture 6" descr="C:\WINDOWS\TEMP\\msotw9_temp0.jpg"/>
            <p:cNvPicPr>
              <a:picLocks noChangeAspect="1" noChangeArrowheads="1"/>
            </p:cNvPicPr>
            <p:nvPr/>
          </p:nvPicPr>
          <p:blipFill>
            <a:blip r:embed="rId2" cstate="print"/>
            <a:srcRect/>
            <a:stretch>
              <a:fillRect/>
            </a:stretch>
          </p:blipFill>
          <p:spPr bwMode="auto">
            <a:xfrm>
              <a:off x="288" y="624"/>
              <a:ext cx="2880" cy="1499"/>
            </a:xfrm>
            <a:prstGeom prst="rect">
              <a:avLst/>
            </a:prstGeom>
            <a:noFill/>
            <a:ln w="9525">
              <a:noFill/>
              <a:miter lim="800000"/>
              <a:headEnd/>
              <a:tailEnd/>
            </a:ln>
            <a:effectLst/>
          </p:spPr>
        </p:pic>
        <p:pic>
          <p:nvPicPr>
            <p:cNvPr id="5127" name="Picture 7" descr="C:\WINDOWS\TEMP\\msotw9_temp0.jpg"/>
            <p:cNvPicPr>
              <a:picLocks noChangeAspect="1" noChangeArrowheads="1"/>
            </p:cNvPicPr>
            <p:nvPr/>
          </p:nvPicPr>
          <p:blipFill>
            <a:blip r:embed="rId3" cstate="print"/>
            <a:srcRect/>
            <a:stretch>
              <a:fillRect/>
            </a:stretch>
          </p:blipFill>
          <p:spPr bwMode="auto">
            <a:xfrm>
              <a:off x="288" y="2112"/>
              <a:ext cx="2880" cy="1503"/>
            </a:xfrm>
            <a:prstGeom prst="rect">
              <a:avLst/>
            </a:prstGeom>
            <a:noFill/>
            <a:ln w="9525">
              <a:noFill/>
              <a:miter lim="800000"/>
              <a:headEnd/>
              <a:tailEnd/>
            </a:ln>
            <a:effectLst/>
          </p:spPr>
        </p:pic>
      </p:grpSp>
      <p:sp>
        <p:nvSpPr>
          <p:cNvPr id="5129" name="Text Box 9"/>
          <p:cNvSpPr txBox="1">
            <a:spLocks noChangeArrowheads="1"/>
          </p:cNvSpPr>
          <p:nvPr/>
        </p:nvSpPr>
        <p:spPr bwMode="auto">
          <a:xfrm>
            <a:off x="4724400" y="3946525"/>
            <a:ext cx="4267200" cy="701675"/>
          </a:xfrm>
          <a:prstGeom prst="rect">
            <a:avLst/>
          </a:prstGeom>
          <a:noFill/>
          <a:ln w="9525">
            <a:noFill/>
            <a:miter lim="800000"/>
            <a:headEnd/>
            <a:tailEnd/>
          </a:ln>
          <a:effectLst/>
        </p:spPr>
        <p:txBody>
          <a:bodyPr>
            <a:spAutoFit/>
          </a:bodyPr>
          <a:lstStyle/>
          <a:p>
            <a:pPr marL="231775" indent="-231775">
              <a:spcBef>
                <a:spcPct val="50000"/>
              </a:spcBef>
              <a:buFontTx/>
              <a:buChar char="•"/>
            </a:pPr>
            <a:r>
              <a:rPr lang="en-US" sz="2000" dirty="0"/>
              <a:t>Generator creates an equal and opposite torque </a:t>
            </a:r>
            <a:r>
              <a:rPr lang="en-US" sz="2000" i="1" dirty="0"/>
              <a:t>T</a:t>
            </a:r>
            <a:r>
              <a:rPr lang="en-US" sz="2000" dirty="0"/>
              <a:t>’</a:t>
            </a:r>
          </a:p>
        </p:txBody>
      </p:sp>
      <p:sp>
        <p:nvSpPr>
          <p:cNvPr id="5130" name="Text Box 10"/>
          <p:cNvSpPr txBox="1">
            <a:spLocks noChangeArrowheads="1"/>
          </p:cNvSpPr>
          <p:nvPr/>
        </p:nvSpPr>
        <p:spPr bwMode="auto">
          <a:xfrm>
            <a:off x="4724400" y="3184525"/>
            <a:ext cx="4267200" cy="701675"/>
          </a:xfrm>
          <a:prstGeom prst="rect">
            <a:avLst/>
          </a:prstGeom>
          <a:noFill/>
          <a:ln w="9525">
            <a:noFill/>
            <a:miter lim="800000"/>
            <a:headEnd/>
            <a:tailEnd/>
          </a:ln>
          <a:effectLst/>
        </p:spPr>
        <p:txBody>
          <a:bodyPr>
            <a:spAutoFit/>
          </a:bodyPr>
          <a:lstStyle/>
          <a:p>
            <a:pPr marL="231775" indent="-231775">
              <a:spcBef>
                <a:spcPct val="50000"/>
              </a:spcBef>
              <a:buFontTx/>
              <a:buChar char="•"/>
            </a:pPr>
            <a:r>
              <a:rPr lang="en-US" sz="2000" dirty="0"/>
              <a:t>Shaft transmits the torque to the generator</a:t>
            </a:r>
          </a:p>
        </p:txBody>
      </p:sp>
      <p:sp>
        <p:nvSpPr>
          <p:cNvPr id="5131" name="Text Box 11"/>
          <p:cNvSpPr txBox="1">
            <a:spLocks noChangeArrowheads="1"/>
          </p:cNvSpPr>
          <p:nvPr/>
        </p:nvSpPr>
        <p:spPr bwMode="auto">
          <a:xfrm>
            <a:off x="4724400" y="2498725"/>
            <a:ext cx="4191000" cy="396875"/>
          </a:xfrm>
          <a:prstGeom prst="rect">
            <a:avLst/>
          </a:prstGeom>
          <a:noFill/>
          <a:ln w="9525">
            <a:noFill/>
            <a:miter lim="800000"/>
            <a:headEnd/>
            <a:tailEnd/>
          </a:ln>
          <a:effectLst/>
        </p:spPr>
        <p:txBody>
          <a:bodyPr>
            <a:spAutoFit/>
          </a:bodyPr>
          <a:lstStyle/>
          <a:p>
            <a:pPr marL="231775" indent="-231775">
              <a:spcBef>
                <a:spcPct val="50000"/>
              </a:spcBef>
              <a:buFontTx/>
              <a:buChar char="•"/>
            </a:pPr>
            <a:r>
              <a:rPr lang="en-US" sz="2000" dirty="0"/>
              <a:t>Turbine exerts torque </a:t>
            </a:r>
            <a:r>
              <a:rPr lang="en-US" sz="2000" i="1" dirty="0"/>
              <a:t>T</a:t>
            </a:r>
            <a:r>
              <a:rPr lang="en-US" sz="2000" dirty="0"/>
              <a:t> on the shaft</a:t>
            </a:r>
          </a:p>
        </p:txBody>
      </p:sp>
      <p:sp>
        <p:nvSpPr>
          <p:cNvPr id="12" name="TextBox 11"/>
          <p:cNvSpPr txBox="1"/>
          <p:nvPr/>
        </p:nvSpPr>
        <p:spPr>
          <a:xfrm>
            <a:off x="228601" y="5486400"/>
            <a:ext cx="8763000"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en-US" dirty="0" smtClean="0"/>
              <a:t>In the transmission of power by a shaft in torsion, we are interested primarily in the twisting moment which can be transmitted by the shaft without damage to the material, and hence we wish to know what the stresses are in the shaft.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1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1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9" grpId="0" autoUpdateAnimBg="0"/>
      <p:bldP spid="5130" grpId="0" autoUpdateAnimBg="0"/>
      <p:bldP spid="5131"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Use of cylindrical coordinates </a:t>
            </a:r>
            <a:r>
              <a:rPr lang="en-US" i="1" dirty="0" smtClean="0"/>
              <a:t>r, Ɵ, z</a:t>
            </a:r>
            <a:endParaRPr lang="en-US" dirty="0"/>
          </a:p>
        </p:txBody>
      </p:sp>
      <p:sp>
        <p:nvSpPr>
          <p:cNvPr id="3" name="Title 2"/>
          <p:cNvSpPr>
            <a:spLocks noGrp="1"/>
          </p:cNvSpPr>
          <p:nvPr>
            <p:ph type="title"/>
          </p:nvPr>
        </p:nvSpPr>
        <p:spPr/>
        <p:txBody>
          <a:bodyPr>
            <a:normAutofit fontScale="90000"/>
          </a:bodyPr>
          <a:lstStyle/>
          <a:p>
            <a:r>
              <a:rPr lang="en-US" dirty="0" smtClean="0"/>
              <a:t>Geometry of deformation of a twisted </a:t>
            </a:r>
            <a:r>
              <a:rPr lang="en-US" smtClean="0"/>
              <a:t>circular shaft</a:t>
            </a:r>
            <a:endParaRPr lang="en-US"/>
          </a:p>
        </p:txBody>
      </p:sp>
      <p:pic>
        <p:nvPicPr>
          <p:cNvPr id="1026" name="Picture 2"/>
          <p:cNvPicPr>
            <a:picLocks noChangeAspect="1" noChangeArrowheads="1"/>
          </p:cNvPicPr>
          <p:nvPr/>
        </p:nvPicPr>
        <p:blipFill>
          <a:blip r:embed="rId2" cstate="print"/>
          <a:srcRect/>
          <a:stretch>
            <a:fillRect/>
          </a:stretch>
        </p:blipFill>
        <p:spPr bwMode="auto">
          <a:xfrm>
            <a:off x="0" y="2139288"/>
            <a:ext cx="4876800" cy="4718711"/>
          </a:xfrm>
          <a:prstGeom prst="rect">
            <a:avLst/>
          </a:prstGeom>
          <a:noFill/>
          <a:ln w="9525">
            <a:noFill/>
            <a:miter lim="800000"/>
            <a:headEnd/>
            <a:tailEnd/>
          </a:ln>
        </p:spPr>
      </p:pic>
      <p:sp>
        <p:nvSpPr>
          <p:cNvPr id="5" name="TextBox 4"/>
          <p:cNvSpPr txBox="1"/>
          <p:nvPr/>
        </p:nvSpPr>
        <p:spPr>
          <a:xfrm>
            <a:off x="5257800" y="3581400"/>
            <a:ext cx="3657600" cy="120032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just"/>
            <a:r>
              <a:rPr lang="en-US" dirty="0" smtClean="0"/>
              <a:t>Equilibrium requires that each cross section of the shaft must transmit the twisting moment </a:t>
            </a:r>
            <a:r>
              <a:rPr lang="en-US" i="1" dirty="0" smtClean="0"/>
              <a:t>M</a:t>
            </a:r>
            <a:r>
              <a:rPr lang="en-US" i="1" baseline="-25000" dirty="0" smtClean="0"/>
              <a:t>t </a:t>
            </a:r>
            <a:r>
              <a:rPr lang="en-US" i="1" dirty="0" smtClean="0"/>
              <a:t>.</a:t>
            </a:r>
            <a:endParaRPr lang="en-IN" i="1" baseline="-25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029200"/>
            <a:ext cx="8229600" cy="978091"/>
          </a:xfrm>
        </p:spPr>
        <p:txBody>
          <a:bodyPr/>
          <a:lstStyle/>
          <a:p>
            <a:pPr algn="just"/>
            <a:r>
              <a:rPr lang="en-US" dirty="0" smtClean="0"/>
              <a:t>When a circular shaft is twisted, the cross sections must remain plane</a:t>
            </a:r>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1129037" y="762000"/>
            <a:ext cx="6871963" cy="4038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a:p>
        </p:txBody>
      </p:sp>
      <p:sp>
        <p:nvSpPr>
          <p:cNvPr id="3" name="Title 2"/>
          <p:cNvSpPr>
            <a:spLocks noGrp="1"/>
          </p:cNvSpPr>
          <p:nvPr>
            <p:ph type="title"/>
          </p:nvPr>
        </p:nvSpPr>
        <p:spPr/>
        <p:txBody>
          <a:bodyPr/>
          <a:lstStyle/>
          <a:p>
            <a:endParaRPr lang="en-IN"/>
          </a:p>
        </p:txBody>
      </p:sp>
      <p:pic>
        <p:nvPicPr>
          <p:cNvPr id="3074" name="Picture 2"/>
          <p:cNvPicPr>
            <a:picLocks noChangeAspect="1" noChangeArrowheads="1"/>
          </p:cNvPicPr>
          <p:nvPr/>
        </p:nvPicPr>
        <p:blipFill>
          <a:blip r:embed="rId2" cstate="print"/>
          <a:srcRect/>
          <a:stretch>
            <a:fillRect/>
          </a:stretch>
        </p:blipFill>
        <p:spPr bwMode="auto">
          <a:xfrm>
            <a:off x="0" y="152400"/>
            <a:ext cx="3301882" cy="6477000"/>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2381250" y="3352800"/>
            <a:ext cx="6762750" cy="771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a:p>
        </p:txBody>
      </p:sp>
      <p:sp>
        <p:nvSpPr>
          <p:cNvPr id="3" name="Title 2"/>
          <p:cNvSpPr>
            <a:spLocks noGrp="1"/>
          </p:cNvSpPr>
          <p:nvPr>
            <p:ph type="title"/>
          </p:nvPr>
        </p:nvSpPr>
        <p:spPr/>
        <p:txBody>
          <a:bodyPr/>
          <a:lstStyle/>
          <a:p>
            <a:endParaRPr lang="en-IN"/>
          </a:p>
        </p:txBody>
      </p:sp>
      <p:pic>
        <p:nvPicPr>
          <p:cNvPr id="4098" name="Picture 2"/>
          <p:cNvPicPr>
            <a:picLocks noChangeAspect="1" noChangeArrowheads="1"/>
          </p:cNvPicPr>
          <p:nvPr/>
        </p:nvPicPr>
        <p:blipFill>
          <a:blip r:embed="rId2" cstate="print"/>
          <a:srcRect/>
          <a:stretch>
            <a:fillRect/>
          </a:stretch>
        </p:blipFill>
        <p:spPr bwMode="auto">
          <a:xfrm>
            <a:off x="533400" y="0"/>
            <a:ext cx="8077200" cy="685147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5562600"/>
            <a:ext cx="8001000" cy="1066800"/>
          </a:xfrm>
        </p:spPr>
        <p:style>
          <a:lnRef idx="1">
            <a:schemeClr val="accent2"/>
          </a:lnRef>
          <a:fillRef idx="2">
            <a:schemeClr val="accent2"/>
          </a:fillRef>
          <a:effectRef idx="1">
            <a:schemeClr val="accent2"/>
          </a:effectRef>
          <a:fontRef idx="minor">
            <a:schemeClr val="dk1"/>
          </a:fontRef>
        </p:style>
        <p:txBody>
          <a:bodyPr>
            <a:normAutofit fontScale="92500" lnSpcReduction="10000"/>
          </a:bodyPr>
          <a:lstStyle/>
          <a:p>
            <a:pPr algn="just"/>
            <a:r>
              <a:rPr lang="en-US" sz="2400" dirty="0" smtClean="0"/>
              <a:t>Each plane cross section originally normal to the axis remains plane and normal and does not distort within its own plane.</a:t>
            </a:r>
            <a:endParaRPr lang="en-IN" sz="2400" dirty="0"/>
          </a:p>
        </p:txBody>
      </p:sp>
      <p:pic>
        <p:nvPicPr>
          <p:cNvPr id="5122" name="Picture 2"/>
          <p:cNvPicPr>
            <a:picLocks noChangeAspect="1" noChangeArrowheads="1"/>
          </p:cNvPicPr>
          <p:nvPr/>
        </p:nvPicPr>
        <p:blipFill>
          <a:blip r:embed="rId2" cstate="print"/>
          <a:srcRect/>
          <a:stretch>
            <a:fillRect/>
          </a:stretch>
        </p:blipFill>
        <p:spPr bwMode="auto">
          <a:xfrm>
            <a:off x="1524000" y="0"/>
            <a:ext cx="6141964" cy="542540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286000"/>
            <a:ext cx="8229600" cy="3721291"/>
          </a:xfrm>
        </p:spPr>
        <p:txBody>
          <a:bodyPr/>
          <a:lstStyle/>
          <a:p>
            <a:endParaRPr lang="en-IN" dirty="0"/>
          </a:p>
        </p:txBody>
      </p:sp>
      <p:sp>
        <p:nvSpPr>
          <p:cNvPr id="3" name="Title 2"/>
          <p:cNvSpPr>
            <a:spLocks noGrp="1"/>
          </p:cNvSpPr>
          <p:nvPr>
            <p:ph type="title"/>
          </p:nvPr>
        </p:nvSpPr>
        <p:spPr/>
        <p:txBody>
          <a:bodyPr/>
          <a:lstStyle/>
          <a:p>
            <a:r>
              <a:rPr lang="en-US" dirty="0" err="1" smtClean="0"/>
              <a:t>Dilational</a:t>
            </a:r>
            <a:r>
              <a:rPr lang="en-US" dirty="0" smtClean="0"/>
              <a:t> deformation</a:t>
            </a:r>
            <a:endParaRPr lang="en-IN" dirty="0"/>
          </a:p>
        </p:txBody>
      </p:sp>
      <p:pic>
        <p:nvPicPr>
          <p:cNvPr id="6146" name="Picture 2"/>
          <p:cNvPicPr>
            <a:picLocks noChangeAspect="1" noChangeArrowheads="1"/>
          </p:cNvPicPr>
          <p:nvPr/>
        </p:nvPicPr>
        <p:blipFill>
          <a:blip r:embed="rId2" cstate="print"/>
          <a:srcRect/>
          <a:stretch>
            <a:fillRect/>
          </a:stretch>
        </p:blipFill>
        <p:spPr bwMode="auto">
          <a:xfrm>
            <a:off x="533400" y="1466850"/>
            <a:ext cx="3000375" cy="666750"/>
          </a:xfrm>
          <a:prstGeom prst="rect">
            <a:avLst/>
          </a:prstGeom>
          <a:noFill/>
          <a:ln w="9525">
            <a:no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0" y="2133600"/>
            <a:ext cx="8981168" cy="93796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0" y="0"/>
            <a:ext cx="8821520" cy="5867400"/>
          </a:xfrm>
          <a:prstGeom prst="rect">
            <a:avLst/>
          </a:prstGeom>
          <a:noFill/>
          <a:ln w="9525">
            <a:noFill/>
            <a:miter lim="800000"/>
            <a:headEnd/>
            <a:tailEnd/>
          </a:ln>
        </p:spPr>
      </p:pic>
      <p:pic>
        <p:nvPicPr>
          <p:cNvPr id="7170" name="Picture 2"/>
          <p:cNvPicPr>
            <a:picLocks noChangeAspect="1" noChangeArrowheads="1"/>
          </p:cNvPicPr>
          <p:nvPr/>
        </p:nvPicPr>
        <p:blipFill>
          <a:blip r:embed="rId3" cstate="print"/>
          <a:srcRect/>
          <a:stretch>
            <a:fillRect/>
          </a:stretch>
        </p:blipFill>
        <p:spPr bwMode="auto">
          <a:xfrm>
            <a:off x="0" y="4867275"/>
            <a:ext cx="4857750" cy="1990725"/>
          </a:xfrm>
          <a:prstGeom prst="rect">
            <a:avLst/>
          </a:prstGeom>
          <a:noFill/>
          <a:ln w="9525">
            <a:solidFill>
              <a:srgbClr val="0070C0"/>
            </a:solid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a:p>
        </p:txBody>
      </p:sp>
      <p:sp>
        <p:nvSpPr>
          <p:cNvPr id="3" name="Title 2"/>
          <p:cNvSpPr>
            <a:spLocks noGrp="1"/>
          </p:cNvSpPr>
          <p:nvPr>
            <p:ph type="title"/>
          </p:nvPr>
        </p:nvSpPr>
        <p:spPr/>
        <p:txBody>
          <a:bodyPr>
            <a:normAutofit fontScale="90000"/>
          </a:bodyPr>
          <a:lstStyle/>
          <a:p>
            <a:r>
              <a:rPr lang="en-US" dirty="0" smtClean="0"/>
              <a:t>Stresses obtained from stress strain relations</a:t>
            </a:r>
            <a:endParaRPr lang="en-IN" dirty="0"/>
          </a:p>
        </p:txBody>
      </p:sp>
      <p:pic>
        <p:nvPicPr>
          <p:cNvPr id="8194" name="Picture 2"/>
          <p:cNvPicPr>
            <a:picLocks noChangeAspect="1" noChangeArrowheads="1"/>
          </p:cNvPicPr>
          <p:nvPr/>
        </p:nvPicPr>
        <p:blipFill>
          <a:blip r:embed="rId2" cstate="print"/>
          <a:srcRect/>
          <a:stretch>
            <a:fillRect/>
          </a:stretch>
        </p:blipFill>
        <p:spPr bwMode="auto">
          <a:xfrm>
            <a:off x="2152650" y="2552700"/>
            <a:ext cx="4838700" cy="1752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a:p>
        </p:txBody>
      </p:sp>
      <p:sp>
        <p:nvSpPr>
          <p:cNvPr id="3" name="Title 2"/>
          <p:cNvSpPr>
            <a:spLocks noGrp="1"/>
          </p:cNvSpPr>
          <p:nvPr>
            <p:ph type="title"/>
          </p:nvPr>
        </p:nvSpPr>
        <p:spPr/>
        <p:txBody>
          <a:bodyPr/>
          <a:lstStyle/>
          <a:p>
            <a:r>
              <a:rPr lang="en-US" dirty="0" smtClean="0"/>
              <a:t>Equilibrium requirements</a:t>
            </a:r>
            <a:endParaRPr lang="en-IN" dirty="0"/>
          </a:p>
        </p:txBody>
      </p:sp>
      <p:pic>
        <p:nvPicPr>
          <p:cNvPr id="9218" name="Picture 2"/>
          <p:cNvPicPr>
            <a:picLocks noChangeAspect="1" noChangeArrowheads="1"/>
          </p:cNvPicPr>
          <p:nvPr/>
        </p:nvPicPr>
        <p:blipFill>
          <a:blip r:embed="rId2" cstate="print"/>
          <a:srcRect/>
          <a:stretch>
            <a:fillRect/>
          </a:stretch>
        </p:blipFill>
        <p:spPr bwMode="auto">
          <a:xfrm>
            <a:off x="609600" y="1499138"/>
            <a:ext cx="7924800" cy="5325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733800"/>
            <a:ext cx="8229600" cy="2273491"/>
          </a:xfrm>
        </p:spPr>
        <p:txBody>
          <a:bodyPr/>
          <a:lstStyle/>
          <a:p>
            <a:r>
              <a:rPr lang="en-US" dirty="0" err="1" smtClean="0"/>
              <a:t>Dia</a:t>
            </a:r>
            <a:r>
              <a:rPr lang="en-US" dirty="0" smtClean="0"/>
              <a:t> = 25 mm; aluminum alloy shaft.</a:t>
            </a:r>
          </a:p>
          <a:p>
            <a:r>
              <a:rPr lang="en-US" dirty="0" smtClean="0"/>
              <a:t>Find the angle through which O rotates.</a:t>
            </a:r>
          </a:p>
          <a:p>
            <a:r>
              <a:rPr lang="en-US" dirty="0" smtClean="0"/>
              <a:t>G = 26.5 GN/m</a:t>
            </a:r>
            <a:r>
              <a:rPr lang="en-US" baseline="30000" dirty="0" smtClean="0"/>
              <a:t>2</a:t>
            </a:r>
            <a:endParaRPr lang="en-US" baseline="30000" dirty="0"/>
          </a:p>
        </p:txBody>
      </p:sp>
      <p:sp>
        <p:nvSpPr>
          <p:cNvPr id="3" name="Title 2"/>
          <p:cNvSpPr>
            <a:spLocks noGrp="1"/>
          </p:cNvSpPr>
          <p:nvPr>
            <p:ph type="title"/>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762000" y="381000"/>
            <a:ext cx="7543800" cy="322104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105400" y="1481328"/>
            <a:ext cx="3581400" cy="4525963"/>
          </a:xfrm>
        </p:spPr>
        <p:txBody>
          <a:bodyPr>
            <a:normAutofit/>
          </a:bodyPr>
          <a:lstStyle/>
          <a:p>
            <a:pPr algn="just"/>
            <a:r>
              <a:rPr lang="en-US" sz="2400" dirty="0" smtClean="0"/>
              <a:t>Making a concentric hole in a shaft does not reduce the </a:t>
            </a:r>
            <a:r>
              <a:rPr lang="en-US" sz="2400" dirty="0" err="1" smtClean="0"/>
              <a:t>torsional</a:t>
            </a:r>
            <a:r>
              <a:rPr lang="en-US" sz="2400" dirty="0" smtClean="0"/>
              <a:t> stiffness in proportion to the amount of the material removed</a:t>
            </a:r>
            <a:endParaRPr lang="en-US" sz="2400" dirty="0"/>
          </a:p>
        </p:txBody>
      </p:sp>
      <p:sp>
        <p:nvSpPr>
          <p:cNvPr id="3" name="Title 2"/>
          <p:cNvSpPr>
            <a:spLocks noGrp="1"/>
          </p:cNvSpPr>
          <p:nvPr>
            <p:ph type="title"/>
          </p:nvPr>
        </p:nvSpPr>
        <p:spPr/>
        <p:txBody>
          <a:bodyPr>
            <a:normAutofit fontScale="90000"/>
          </a:bodyPr>
          <a:lstStyle/>
          <a:p>
            <a:r>
              <a:rPr lang="en-US" dirty="0" smtClean="0"/>
              <a:t>Torsion of elastic hollow circular shafts</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0" y="1700572"/>
            <a:ext cx="4953000" cy="51574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792162"/>
          </a:xfrm>
        </p:spPr>
        <p:txBody>
          <a:bodyPr/>
          <a:lstStyle/>
          <a:p>
            <a:r>
              <a:rPr lang="en-US" dirty="0" smtClean="0"/>
              <a:t>Problem</a:t>
            </a:r>
            <a:endParaRPr lang="en-US" dirty="0"/>
          </a:p>
        </p:txBody>
      </p:sp>
      <p:pic>
        <p:nvPicPr>
          <p:cNvPr id="6146" name="Picture 2"/>
          <p:cNvPicPr>
            <a:picLocks noChangeAspect="1" noChangeArrowheads="1"/>
          </p:cNvPicPr>
          <p:nvPr/>
        </p:nvPicPr>
        <p:blipFill>
          <a:blip r:embed="rId2" cstate="print"/>
          <a:srcRect r="66667"/>
          <a:stretch>
            <a:fillRect/>
          </a:stretch>
        </p:blipFill>
        <p:spPr bwMode="auto">
          <a:xfrm>
            <a:off x="3352800" y="0"/>
            <a:ext cx="3581400" cy="4040268"/>
          </a:xfrm>
          <a:prstGeom prst="rect">
            <a:avLst/>
          </a:prstGeom>
          <a:noFill/>
          <a:ln w="9525">
            <a:noFill/>
            <a:miter lim="800000"/>
            <a:headEnd/>
            <a:tailEnd/>
          </a:ln>
        </p:spPr>
      </p:pic>
      <p:pic>
        <p:nvPicPr>
          <p:cNvPr id="5" name="Picture 2"/>
          <p:cNvPicPr>
            <a:picLocks noChangeAspect="1" noChangeArrowheads="1"/>
          </p:cNvPicPr>
          <p:nvPr/>
        </p:nvPicPr>
        <p:blipFill>
          <a:blip r:embed="rId2" cstate="print"/>
          <a:srcRect l="33333" b="62050"/>
          <a:stretch>
            <a:fillRect/>
          </a:stretch>
        </p:blipFill>
        <p:spPr bwMode="auto">
          <a:xfrm>
            <a:off x="381000" y="4038600"/>
            <a:ext cx="8543293" cy="1828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4648200" y="609600"/>
            <a:ext cx="3659710" cy="3174980"/>
          </a:xfrm>
          <a:prstGeom prst="rect">
            <a:avLst/>
          </a:prstGeom>
          <a:noFill/>
          <a:ln w="9525">
            <a:noFill/>
            <a:miter lim="800000"/>
            <a:headEnd/>
            <a:tailEnd/>
          </a:ln>
        </p:spPr>
      </p:pic>
      <p:sp>
        <p:nvSpPr>
          <p:cNvPr id="5" name="Title 2"/>
          <p:cNvSpPr>
            <a:spLocks noGrp="1"/>
          </p:cNvSpPr>
          <p:nvPr>
            <p:ph type="title"/>
          </p:nvPr>
        </p:nvSpPr>
        <p:spPr>
          <a:xfrm>
            <a:off x="457200" y="274638"/>
            <a:ext cx="8229600" cy="792162"/>
          </a:xfrm>
        </p:spPr>
        <p:txBody>
          <a:bodyPr>
            <a:normAutofit/>
          </a:bodyPr>
          <a:lstStyle/>
          <a:p>
            <a:r>
              <a:rPr lang="en-US" dirty="0" smtClean="0"/>
              <a:t>Problem</a:t>
            </a:r>
            <a:endParaRPr lang="en-US" dirty="0"/>
          </a:p>
        </p:txBody>
      </p:sp>
      <p:pic>
        <p:nvPicPr>
          <p:cNvPr id="7171" name="Picture 3"/>
          <p:cNvPicPr>
            <a:picLocks noChangeAspect="1" noChangeArrowheads="1"/>
          </p:cNvPicPr>
          <p:nvPr/>
        </p:nvPicPr>
        <p:blipFill>
          <a:blip r:embed="rId3" cstate="print"/>
          <a:srcRect/>
          <a:stretch>
            <a:fillRect/>
          </a:stretch>
        </p:blipFill>
        <p:spPr bwMode="auto">
          <a:xfrm>
            <a:off x="381000" y="3955709"/>
            <a:ext cx="8458200" cy="191169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Stress analysis in torsion: Combined Stresses</a:t>
            </a:r>
            <a:endParaRPr lang="en-US" dirty="0"/>
          </a:p>
        </p:txBody>
      </p:sp>
      <p:pic>
        <p:nvPicPr>
          <p:cNvPr id="2051" name="Picture 3"/>
          <p:cNvPicPr>
            <a:picLocks noChangeAspect="1" noChangeArrowheads="1"/>
          </p:cNvPicPr>
          <p:nvPr/>
        </p:nvPicPr>
        <p:blipFill>
          <a:blip r:embed="rId2" cstate="print">
            <a:clrChange>
              <a:clrFrom>
                <a:srgbClr val="FFFFFF"/>
              </a:clrFrom>
              <a:clrTo>
                <a:srgbClr val="FFFFFF">
                  <a:alpha val="0"/>
                </a:srgbClr>
              </a:clrTo>
            </a:clrChange>
            <a:lum contrast="54000"/>
          </a:blip>
          <a:srcRect/>
          <a:stretch>
            <a:fillRect/>
          </a:stretch>
        </p:blipFill>
        <p:spPr bwMode="auto">
          <a:xfrm>
            <a:off x="3974286" y="838200"/>
            <a:ext cx="5169714" cy="601980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67000" y="1481329"/>
            <a:ext cx="6019800" cy="1338072"/>
          </a:xfrm>
        </p:spPr>
        <p:txBody>
          <a:bodyPr>
            <a:normAutofit fontScale="92500" lnSpcReduction="20000"/>
          </a:bodyPr>
          <a:lstStyle/>
          <a:p>
            <a:pPr algn="just"/>
            <a:r>
              <a:rPr lang="en-US" dirty="0" smtClean="0"/>
              <a:t>A uniform, homogeneous circular shaft is subjected to an axial tensile force P and a twisting moment M</a:t>
            </a:r>
            <a:r>
              <a:rPr lang="en-US" baseline="-25000" dirty="0" smtClean="0"/>
              <a:t>t</a:t>
            </a:r>
            <a:r>
              <a:rPr lang="en-US" dirty="0" smtClean="0"/>
              <a:t>.</a:t>
            </a:r>
            <a:endParaRPr lang="en-US" dirty="0"/>
          </a:p>
        </p:txBody>
      </p:sp>
      <p:sp>
        <p:nvSpPr>
          <p:cNvPr id="4" name="Title 2"/>
          <p:cNvSpPr>
            <a:spLocks noGrp="1"/>
          </p:cNvSpPr>
          <p:nvPr>
            <p:ph type="title"/>
          </p:nvPr>
        </p:nvSpPr>
        <p:spPr>
          <a:xfrm>
            <a:off x="457200" y="274638"/>
            <a:ext cx="8229600" cy="792162"/>
          </a:xfrm>
        </p:spPr>
        <p:txBody>
          <a:bodyPr>
            <a:normAutofit fontScale="90000"/>
          </a:bodyPr>
          <a:lstStyle/>
          <a:p>
            <a:r>
              <a:rPr lang="en-US" dirty="0" smtClean="0"/>
              <a:t>Stress analysis in torsion: Combined Stresses</a:t>
            </a:r>
            <a:endParaRPr lang="en-US" dirty="0"/>
          </a:p>
        </p:txBody>
      </p:sp>
      <p:pic>
        <p:nvPicPr>
          <p:cNvPr id="3074"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0" y="1607726"/>
            <a:ext cx="2308126" cy="5250274"/>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2918835" y="3352800"/>
            <a:ext cx="6225165" cy="273815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304800"/>
            <a:ext cx="8229600" cy="563562"/>
          </a:xfrm>
        </p:spPr>
        <p:txBody>
          <a:bodyPr>
            <a:normAutofit fontScale="90000"/>
          </a:bodyPr>
          <a:lstStyle/>
          <a:p>
            <a:r>
              <a:rPr lang="en-US" dirty="0" smtClean="0"/>
              <a:t>Strain energy due to torsion</a:t>
            </a:r>
            <a:endParaRPr lang="en-US" dirty="0"/>
          </a:p>
        </p:txBody>
      </p:sp>
      <p:graphicFrame>
        <p:nvGraphicFramePr>
          <p:cNvPr id="4" name="Content Placeholder 3"/>
          <p:cNvGraphicFramePr>
            <a:graphicFrameLocks noGrp="1" noChangeAspect="1"/>
          </p:cNvGraphicFramePr>
          <p:nvPr>
            <p:ph idx="1"/>
          </p:nvPr>
        </p:nvGraphicFramePr>
        <p:xfrm>
          <a:off x="1981200" y="1051798"/>
          <a:ext cx="2133600" cy="1081802"/>
        </p:xfrm>
        <a:graphic>
          <a:graphicData uri="http://schemas.openxmlformats.org/presentationml/2006/ole">
            <mc:AlternateContent xmlns:mc="http://schemas.openxmlformats.org/markup-compatibility/2006">
              <mc:Choice xmlns:v="urn:schemas-microsoft-com:vml" Requires="v">
                <p:oleObj spid="_x0000_s4155" name="Equation" r:id="rId3" imgW="901440" imgH="457200" progId="Equation.DSMT4">
                  <p:embed/>
                </p:oleObj>
              </mc:Choice>
              <mc:Fallback>
                <p:oleObj name="Equation" r:id="rId3" imgW="901440" imgH="457200" progId="Equation.DSMT4">
                  <p:embed/>
                  <p:pic>
                    <p:nvPicPr>
                      <p:cNvPr id="0" name="Content Placeholder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051798"/>
                        <a:ext cx="2133600" cy="1081802"/>
                      </a:xfrm>
                      <a:prstGeom prst="rect">
                        <a:avLst/>
                      </a:prstGeom>
                      <a:solidFill>
                        <a:schemeClr val="folHlink">
                          <a:alpha val="60001"/>
                        </a:schemeClr>
                      </a:solidFill>
                      <a:ln w="9525">
                        <a:solidFill>
                          <a:schemeClr val="accent2"/>
                        </a:solidFill>
                        <a:miter lim="800000"/>
                        <a:headEnd/>
                        <a:tailEnd/>
                      </a:ln>
                    </p:spPr>
                  </p:pic>
                </p:oleObj>
              </mc:Fallback>
            </mc:AlternateContent>
          </a:graphicData>
        </a:graphic>
      </p:graphicFrame>
      <p:sp>
        <p:nvSpPr>
          <p:cNvPr id="5" name="Content Placeholder 1"/>
          <p:cNvSpPr txBox="1">
            <a:spLocks/>
          </p:cNvSpPr>
          <p:nvPr/>
        </p:nvSpPr>
        <p:spPr>
          <a:xfrm>
            <a:off x="533400" y="3276600"/>
            <a:ext cx="8229600" cy="3078163"/>
          </a:xfrm>
          <a:prstGeom prst="rect">
            <a:avLst/>
          </a:prstGeom>
        </p:spPr>
        <p:txBody>
          <a:bodyPr vert="horz">
            <a:normAutofit/>
          </a:bodyPr>
          <a:lstStyle/>
          <a:p>
            <a:pPr marL="621792" marR="0" lvl="1" indent="-228600" algn="just" defTabSz="914400" rtl="0" eaLnBrk="1" fontAlgn="auto" latinLnBrk="0" hangingPunct="1">
              <a:lnSpc>
                <a:spcPct val="100000"/>
              </a:lnSpc>
              <a:spcBef>
                <a:spcPts val="324"/>
              </a:spcBef>
              <a:spcAft>
                <a:spcPts val="0"/>
              </a:spcAft>
              <a:buClr>
                <a:schemeClr val="accent1"/>
              </a:buClr>
              <a:buSzTx/>
              <a:buFont typeface="Verdana"/>
              <a:buChar char="◦"/>
              <a:tabLst/>
              <a:defRPr/>
            </a:pPr>
            <a:r>
              <a:rPr kumimoji="0" lang="en-US" sz="2300" b="0" i="0" u="none" strike="noStrike" kern="1200" cap="none" spc="0" normalizeH="0" baseline="0" noProof="0" dirty="0" err="1" smtClean="0">
                <a:ln>
                  <a:noFill/>
                </a:ln>
                <a:solidFill>
                  <a:schemeClr val="tx1"/>
                </a:solidFill>
                <a:effectLst/>
                <a:uLnTx/>
                <a:uFillTx/>
                <a:latin typeface="+mn-lt"/>
                <a:ea typeface="+mn-ea"/>
                <a:cs typeface="+mn-cs"/>
              </a:rPr>
              <a:t>Mises</a:t>
            </a:r>
            <a:r>
              <a:rPr kumimoji="0" lang="en-US" sz="2300" b="0" i="0" u="none" strike="noStrike" kern="1200" cap="none" spc="0" normalizeH="0" baseline="0" noProof="0" dirty="0" smtClean="0">
                <a:ln>
                  <a:noFill/>
                </a:ln>
                <a:solidFill>
                  <a:schemeClr val="tx1"/>
                </a:solidFill>
                <a:effectLst/>
                <a:uLnTx/>
                <a:uFillTx/>
                <a:latin typeface="+mn-lt"/>
                <a:ea typeface="+mn-ea"/>
                <a:cs typeface="+mn-cs"/>
              </a:rPr>
              <a:t> yield criterion</a:t>
            </a:r>
          </a:p>
          <a:p>
            <a:pPr marL="621792" marR="0" lvl="1" indent="-228600" algn="just" defTabSz="914400" rtl="0" eaLnBrk="1" fontAlgn="auto" latinLnBrk="0" hangingPunct="1">
              <a:lnSpc>
                <a:spcPct val="100000"/>
              </a:lnSpc>
              <a:spcBef>
                <a:spcPts val="324"/>
              </a:spcBef>
              <a:spcAft>
                <a:spcPts val="0"/>
              </a:spcAft>
              <a:buClr>
                <a:schemeClr val="accent1"/>
              </a:buClr>
              <a:buSzTx/>
              <a:buFont typeface="Verdana"/>
              <a:buNone/>
              <a:tabLst/>
              <a:defRPr/>
            </a:pPr>
            <a:endParaRPr kumimoji="0" lang="en-US" sz="2300" b="0" i="0" u="none" strike="noStrike" kern="1200" cap="none" spc="0" normalizeH="0" baseline="0" noProof="0" dirty="0" smtClean="0">
              <a:ln>
                <a:noFill/>
              </a:ln>
              <a:solidFill>
                <a:schemeClr val="tx1"/>
              </a:solidFill>
              <a:effectLst/>
              <a:uLnTx/>
              <a:uFillTx/>
              <a:latin typeface="+mn-lt"/>
              <a:ea typeface="+mn-ea"/>
              <a:cs typeface="+mn-cs"/>
            </a:endParaRPr>
          </a:p>
          <a:p>
            <a:pPr marL="621792" marR="0" lvl="1" indent="-228600" algn="just" defTabSz="914400" rtl="0" eaLnBrk="1" fontAlgn="auto" latinLnBrk="0" hangingPunct="1">
              <a:lnSpc>
                <a:spcPct val="100000"/>
              </a:lnSpc>
              <a:spcBef>
                <a:spcPts val="324"/>
              </a:spcBef>
              <a:spcAft>
                <a:spcPts val="0"/>
              </a:spcAft>
              <a:buClr>
                <a:schemeClr val="accent1"/>
              </a:buClr>
              <a:buSzTx/>
              <a:buFont typeface="Verdana"/>
              <a:buNone/>
              <a:tabLst/>
              <a:defRPr/>
            </a:pPr>
            <a:endParaRPr kumimoji="0" lang="en-US" sz="2300" b="0" i="0" u="none" strike="noStrike" kern="1200" cap="none" spc="0" normalizeH="0" baseline="0" noProof="0" dirty="0" smtClean="0">
              <a:ln>
                <a:noFill/>
              </a:ln>
              <a:solidFill>
                <a:schemeClr val="tx1"/>
              </a:solidFill>
              <a:effectLst/>
              <a:uLnTx/>
              <a:uFillTx/>
              <a:latin typeface="+mn-lt"/>
              <a:ea typeface="+mn-ea"/>
              <a:cs typeface="+mn-cs"/>
            </a:endParaRPr>
          </a:p>
          <a:p>
            <a:pPr marL="621792" marR="0" lvl="1" indent="-228600" algn="just" defTabSz="914400" rtl="0" eaLnBrk="1" fontAlgn="auto" latinLnBrk="0" hangingPunct="1">
              <a:lnSpc>
                <a:spcPct val="100000"/>
              </a:lnSpc>
              <a:spcBef>
                <a:spcPts val="324"/>
              </a:spcBef>
              <a:spcAft>
                <a:spcPts val="0"/>
              </a:spcAft>
              <a:buClr>
                <a:schemeClr val="accent1"/>
              </a:buClr>
              <a:buSzTx/>
              <a:buFont typeface="Verdana"/>
              <a:buNone/>
              <a:tabLst/>
              <a:defRPr/>
            </a:pPr>
            <a:endParaRPr kumimoji="0" lang="en-US" sz="2300" b="0" i="0" u="none" strike="noStrike" kern="1200" cap="none" spc="0" normalizeH="0" baseline="0" noProof="0" dirty="0" smtClean="0">
              <a:ln>
                <a:noFill/>
              </a:ln>
              <a:solidFill>
                <a:schemeClr val="tx1"/>
              </a:solidFill>
              <a:effectLst/>
              <a:uLnTx/>
              <a:uFillTx/>
              <a:latin typeface="+mn-lt"/>
              <a:ea typeface="+mn-ea"/>
              <a:cs typeface="+mn-cs"/>
            </a:endParaRPr>
          </a:p>
          <a:p>
            <a:pPr marL="621792" marR="0" lvl="1" indent="-228600" algn="just" defTabSz="914400" rtl="0" eaLnBrk="1" fontAlgn="auto" latinLnBrk="0" hangingPunct="1">
              <a:lnSpc>
                <a:spcPct val="100000"/>
              </a:lnSpc>
              <a:spcBef>
                <a:spcPts val="324"/>
              </a:spcBef>
              <a:spcAft>
                <a:spcPts val="0"/>
              </a:spcAft>
              <a:buClr>
                <a:schemeClr val="accent1"/>
              </a:buClr>
              <a:buSzTx/>
              <a:buFont typeface="Verdana"/>
              <a:buChar char="◦"/>
              <a:tabLst/>
              <a:defRPr/>
            </a:pPr>
            <a:r>
              <a:rPr kumimoji="0" lang="en-US" sz="2300" b="0" i="0" u="none" strike="noStrike" kern="1200" cap="none" spc="0" normalizeH="0" baseline="0" noProof="0" dirty="0" smtClean="0">
                <a:ln>
                  <a:noFill/>
                </a:ln>
                <a:solidFill>
                  <a:schemeClr val="tx1"/>
                </a:solidFill>
                <a:effectLst/>
                <a:uLnTx/>
                <a:uFillTx/>
                <a:latin typeface="+mn-lt"/>
                <a:ea typeface="+mn-ea"/>
                <a:cs typeface="+mn-cs"/>
              </a:rPr>
              <a:t>Maximum shear-stress criterion</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Char char=""/>
              <a:tabLst/>
              <a:defRPr/>
            </a:pPr>
            <a:endParaRPr kumimoji="0" lang="en-US" sz="27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itle 2"/>
          <p:cNvSpPr txBox="1">
            <a:spLocks/>
          </p:cNvSpPr>
          <p:nvPr/>
        </p:nvSpPr>
        <p:spPr>
          <a:xfrm>
            <a:off x="304800" y="2725547"/>
            <a:ext cx="8229600" cy="551053"/>
          </a:xfrm>
          <a:prstGeom prst="rect">
            <a:avLst/>
          </a:prstGeom>
        </p:spPr>
        <p:txBody>
          <a:bodyPr vert="horz" rtlCol="0" anchor="ctr">
            <a:normAutofit fontScale="85000" lnSpcReduction="20000"/>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The onset of yielding in torsion</a:t>
            </a:r>
            <a:endParaRPr kumimoji="0" 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graphicFrame>
        <p:nvGraphicFramePr>
          <p:cNvPr id="7" name="Object 6"/>
          <p:cNvGraphicFramePr>
            <a:graphicFrameLocks noChangeAspect="1"/>
          </p:cNvGraphicFramePr>
          <p:nvPr/>
        </p:nvGraphicFramePr>
        <p:xfrm>
          <a:off x="1219200" y="3898709"/>
          <a:ext cx="5588000" cy="762000"/>
        </p:xfrm>
        <a:graphic>
          <a:graphicData uri="http://schemas.openxmlformats.org/presentationml/2006/ole">
            <mc:AlternateContent xmlns:mc="http://schemas.openxmlformats.org/markup-compatibility/2006">
              <mc:Choice xmlns:v="urn:schemas-microsoft-com:vml" Requires="v">
                <p:oleObj spid="_x0000_s4156" name="Equation" r:id="rId5" imgW="2793960" imgH="380880" progId="Equation.DSMT4">
                  <p:embed/>
                </p:oleObj>
              </mc:Choice>
              <mc:Fallback>
                <p:oleObj name="Equation" r:id="rId5" imgW="2793960" imgH="38088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3898709"/>
                        <a:ext cx="5588000" cy="762000"/>
                      </a:xfrm>
                      <a:prstGeom prst="rect">
                        <a:avLst/>
                      </a:prstGeom>
                      <a:solidFill>
                        <a:schemeClr val="folHlink">
                          <a:alpha val="60001"/>
                        </a:schemeClr>
                      </a:solidFill>
                      <a:ln w="9525">
                        <a:solidFill>
                          <a:schemeClr val="accent2"/>
                        </a:solidFill>
                        <a:miter lim="800000"/>
                        <a:headEnd/>
                        <a:tailEnd/>
                      </a:ln>
                    </p:spPr>
                  </p:pic>
                </p:oleObj>
              </mc:Fallback>
            </mc:AlternateContent>
          </a:graphicData>
        </a:graphic>
      </p:graphicFrame>
      <p:graphicFrame>
        <p:nvGraphicFramePr>
          <p:cNvPr id="8" name="Object 7"/>
          <p:cNvGraphicFramePr>
            <a:graphicFrameLocks noChangeAspect="1"/>
          </p:cNvGraphicFramePr>
          <p:nvPr/>
        </p:nvGraphicFramePr>
        <p:xfrm>
          <a:off x="1371599" y="5346509"/>
          <a:ext cx="2974258" cy="838200"/>
        </p:xfrm>
        <a:graphic>
          <a:graphicData uri="http://schemas.openxmlformats.org/presentationml/2006/ole">
            <mc:AlternateContent xmlns:mc="http://schemas.openxmlformats.org/markup-compatibility/2006">
              <mc:Choice xmlns:v="urn:schemas-microsoft-com:vml" Requires="v">
                <p:oleObj spid="_x0000_s4157" name="Equation" r:id="rId7" imgW="1396800" imgH="393480" progId="Equation.DSMT4">
                  <p:embed/>
                </p:oleObj>
              </mc:Choice>
              <mc:Fallback>
                <p:oleObj name="Equation" r:id="rId7" imgW="1396800" imgH="39348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599" y="5346509"/>
                        <a:ext cx="2974258" cy="838200"/>
                      </a:xfrm>
                      <a:prstGeom prst="rect">
                        <a:avLst/>
                      </a:prstGeom>
                      <a:solidFill>
                        <a:schemeClr val="folHlink">
                          <a:alpha val="60001"/>
                        </a:schemeClr>
                      </a:solidFill>
                      <a:ln w="9525">
                        <a:solidFill>
                          <a:schemeClr val="accent2"/>
                        </a:solidFill>
                        <a:miter lim="800000"/>
                        <a:headEnd/>
                        <a:tailEnd/>
                      </a:ln>
                    </p:spPr>
                  </p:pic>
                </p:oleObj>
              </mc:Fallback>
            </mc:AlternateContent>
          </a:graphicData>
        </a:graphic>
      </p:graphicFrame>
      <p:cxnSp>
        <p:nvCxnSpPr>
          <p:cNvPr id="10" name="Straight Connector 9"/>
          <p:cNvCxnSpPr/>
          <p:nvPr/>
        </p:nvCxnSpPr>
        <p:spPr>
          <a:xfrm>
            <a:off x="304800" y="2362200"/>
            <a:ext cx="73152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cstate="print"/>
          <a:srcRect/>
          <a:stretch>
            <a:fillRect/>
          </a:stretch>
        </p:blipFill>
        <p:spPr bwMode="auto">
          <a:xfrm>
            <a:off x="27710" y="1176339"/>
            <a:ext cx="9059667" cy="400526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cstate="print"/>
          <a:srcRect/>
          <a:stretch>
            <a:fillRect/>
          </a:stretch>
        </p:blipFill>
        <p:spPr bwMode="auto">
          <a:xfrm>
            <a:off x="2286000" y="228600"/>
            <a:ext cx="4374444" cy="2362200"/>
          </a:xfrm>
          <a:prstGeom prst="rect">
            <a:avLst/>
          </a:prstGeom>
          <a:noFill/>
          <a:ln w="9525">
            <a:noFill/>
            <a:miter lim="800000"/>
            <a:headEnd/>
            <a:tailEnd/>
          </a:ln>
        </p:spPr>
      </p:pic>
      <p:sp>
        <p:nvSpPr>
          <p:cNvPr id="3" name="Rectangle 2"/>
          <p:cNvSpPr/>
          <p:nvPr/>
        </p:nvSpPr>
        <p:spPr>
          <a:xfrm>
            <a:off x="304800" y="3276600"/>
            <a:ext cx="8610600" cy="2031325"/>
          </a:xfrm>
          <a:prstGeom prst="rect">
            <a:avLst/>
          </a:prstGeom>
        </p:spPr>
        <p:txBody>
          <a:bodyPr wrap="square">
            <a:spAutoFit/>
          </a:bodyPr>
          <a:lstStyle/>
          <a:p>
            <a:pPr algn="just"/>
            <a:r>
              <a:rPr lang="en-US" dirty="0" smtClean="0"/>
              <a:t>A prismatic bar AB of solid circular cross section, (diameter d) is loaded by a distributed torque (see figure). The intensity of the torque, that is, the torque per unit distance, is denoted t(x) and varies linearly from a maximum value </a:t>
            </a:r>
            <a:r>
              <a:rPr lang="en-US" dirty="0" err="1" smtClean="0"/>
              <a:t>t</a:t>
            </a:r>
            <a:r>
              <a:rPr lang="en-US" baseline="-25000" dirty="0" err="1" smtClean="0"/>
              <a:t>A</a:t>
            </a:r>
            <a:r>
              <a:rPr lang="en-US" dirty="0" smtClean="0"/>
              <a:t> at end A to zero at end B. Also, the length of the bar is L and the shear modulus of elasticity of the material is G.</a:t>
            </a:r>
          </a:p>
          <a:p>
            <a:pPr algn="just"/>
            <a:r>
              <a:rPr lang="en-US" dirty="0" smtClean="0"/>
              <a:t>(a) Determine the maximum shear stress max in the bar.</a:t>
            </a:r>
          </a:p>
          <a:p>
            <a:pPr algn="just"/>
            <a:r>
              <a:rPr lang="en-US" dirty="0" smtClean="0"/>
              <a:t>(b) Determine the angle of twist </a:t>
            </a:r>
            <a:r>
              <a:rPr lang="el-GR" dirty="0" smtClean="0"/>
              <a:t>Φ</a:t>
            </a:r>
            <a:r>
              <a:rPr lang="en-US" dirty="0" smtClean="0"/>
              <a:t> between the ends of the bar.</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cstate="print"/>
          <a:srcRect/>
          <a:stretch>
            <a:fillRect/>
          </a:stretch>
        </p:blipFill>
        <p:spPr bwMode="auto">
          <a:xfrm>
            <a:off x="2362200" y="381000"/>
            <a:ext cx="4638675" cy="2642215"/>
          </a:xfrm>
          <a:prstGeom prst="rect">
            <a:avLst/>
          </a:prstGeom>
          <a:noFill/>
          <a:ln w="9525">
            <a:noFill/>
            <a:miter lim="800000"/>
            <a:headEnd/>
            <a:tailEnd/>
          </a:ln>
        </p:spPr>
      </p:pic>
      <p:pic>
        <p:nvPicPr>
          <p:cNvPr id="44034" name="Picture 2"/>
          <p:cNvPicPr>
            <a:picLocks noChangeAspect="1" noChangeArrowheads="1"/>
          </p:cNvPicPr>
          <p:nvPr/>
        </p:nvPicPr>
        <p:blipFill>
          <a:blip r:embed="rId3" cstate="print"/>
          <a:srcRect/>
          <a:stretch>
            <a:fillRect/>
          </a:stretch>
        </p:blipFill>
        <p:spPr bwMode="auto">
          <a:xfrm>
            <a:off x="152400" y="3733800"/>
            <a:ext cx="8991600" cy="87469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cstate="print"/>
          <a:srcRect/>
          <a:stretch>
            <a:fillRect/>
          </a:stretch>
        </p:blipFill>
        <p:spPr bwMode="auto">
          <a:xfrm>
            <a:off x="305598" y="304800"/>
            <a:ext cx="8838402" cy="49444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cstate="print"/>
          <a:srcRect r="10256" b="13253"/>
          <a:stretch>
            <a:fillRect/>
          </a:stretch>
        </p:blipFill>
        <p:spPr bwMode="auto">
          <a:xfrm>
            <a:off x="1684867" y="152400"/>
            <a:ext cx="5630333" cy="2895600"/>
          </a:xfrm>
          <a:prstGeom prst="rect">
            <a:avLst/>
          </a:prstGeom>
          <a:noFill/>
          <a:ln w="9525">
            <a:noFill/>
            <a:miter lim="800000"/>
            <a:headEnd/>
            <a:tailEnd/>
          </a:ln>
        </p:spPr>
      </p:pic>
      <p:sp>
        <p:nvSpPr>
          <p:cNvPr id="3" name="Rectangle 2"/>
          <p:cNvSpPr/>
          <p:nvPr/>
        </p:nvSpPr>
        <p:spPr>
          <a:xfrm>
            <a:off x="381000" y="3200400"/>
            <a:ext cx="8458200" cy="2031325"/>
          </a:xfrm>
          <a:prstGeom prst="rect">
            <a:avLst/>
          </a:prstGeom>
        </p:spPr>
        <p:txBody>
          <a:bodyPr wrap="square">
            <a:spAutoFit/>
          </a:bodyPr>
          <a:lstStyle/>
          <a:p>
            <a:r>
              <a:rPr lang="en-US" dirty="0" smtClean="0"/>
              <a:t>Under normal operating conditions, the electric motor exerts a torque of 2.4 </a:t>
            </a:r>
            <a:r>
              <a:rPr lang="en-US" dirty="0" err="1" smtClean="0"/>
              <a:t>kN</a:t>
            </a:r>
            <a:r>
              <a:rPr lang="en-US" dirty="0" smtClean="0"/>
              <a:t>-m at </a:t>
            </a:r>
            <a:r>
              <a:rPr lang="en-US" i="1" dirty="0" smtClean="0"/>
              <a:t>A</a:t>
            </a:r>
            <a:r>
              <a:rPr lang="en-US" dirty="0" smtClean="0"/>
              <a:t>. Knowing that each shaft is solid, determine 				</a:t>
            </a:r>
          </a:p>
          <a:p>
            <a:pPr lvl="0"/>
            <a:r>
              <a:rPr lang="en-US" dirty="0" smtClean="0"/>
              <a:t>(a) The shaft in which maximum shearing stress occurs.</a:t>
            </a:r>
          </a:p>
          <a:p>
            <a:pPr lvl="0"/>
            <a:r>
              <a:rPr lang="en-US" dirty="0" smtClean="0"/>
              <a:t>(b) The magnitude of that maximum shearing stress.</a:t>
            </a:r>
          </a:p>
          <a:p>
            <a:pPr lvl="0"/>
            <a:r>
              <a:rPr lang="en-US" dirty="0" smtClean="0"/>
              <a:t>(c)  The angle of twist between A and E.</a:t>
            </a:r>
          </a:p>
          <a:p>
            <a:r>
              <a:rPr lang="en-US" dirty="0" smtClean="0"/>
              <a:t>[ G = 77 </a:t>
            </a:r>
            <a:r>
              <a:rPr lang="en-US" dirty="0" err="1" smtClean="0"/>
              <a:t>GPa</a:t>
            </a:r>
            <a:r>
              <a:rPr lang="en-US" dirty="0" smtClean="0"/>
              <a:t>, ν = 0.32,  L</a:t>
            </a:r>
            <a:r>
              <a:rPr lang="en-US" baseline="-25000" dirty="0" smtClean="0"/>
              <a:t>AB</a:t>
            </a:r>
            <a:r>
              <a:rPr lang="en-US" dirty="0" smtClean="0"/>
              <a:t> = L</a:t>
            </a:r>
            <a:r>
              <a:rPr lang="en-US" baseline="-25000" dirty="0" smtClean="0"/>
              <a:t>BC</a:t>
            </a:r>
            <a:r>
              <a:rPr lang="en-US" dirty="0" smtClean="0"/>
              <a:t> = L</a:t>
            </a:r>
            <a:r>
              <a:rPr lang="en-US" baseline="-25000" dirty="0" smtClean="0"/>
              <a:t>CD</a:t>
            </a:r>
            <a:r>
              <a:rPr lang="en-US" dirty="0" smtClean="0"/>
              <a:t> = L</a:t>
            </a:r>
            <a:r>
              <a:rPr lang="en-US" baseline="-25000" dirty="0" smtClean="0"/>
              <a:t>DE</a:t>
            </a:r>
            <a:r>
              <a:rPr lang="en-US" dirty="0" smtClean="0"/>
              <a:t> = 0.5 m]</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cstate="print"/>
          <a:srcRect/>
          <a:stretch>
            <a:fillRect/>
          </a:stretch>
        </p:blipFill>
        <p:spPr bwMode="auto">
          <a:xfrm>
            <a:off x="5267325" y="0"/>
            <a:ext cx="3876675" cy="3638550"/>
          </a:xfrm>
          <a:prstGeom prst="rect">
            <a:avLst/>
          </a:prstGeom>
          <a:noFill/>
          <a:ln w="9525">
            <a:noFill/>
            <a:miter lim="800000"/>
            <a:headEnd/>
            <a:tailEnd/>
          </a:ln>
        </p:spPr>
      </p:pic>
      <p:pic>
        <p:nvPicPr>
          <p:cNvPr id="41987" name="Picture 3"/>
          <p:cNvPicPr>
            <a:picLocks noChangeAspect="1" noChangeArrowheads="1"/>
          </p:cNvPicPr>
          <p:nvPr/>
        </p:nvPicPr>
        <p:blipFill>
          <a:blip r:embed="rId3" cstate="print"/>
          <a:srcRect/>
          <a:stretch>
            <a:fillRect/>
          </a:stretch>
        </p:blipFill>
        <p:spPr bwMode="auto">
          <a:xfrm>
            <a:off x="76200" y="3810000"/>
            <a:ext cx="8895080" cy="1295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10" name="Group 2"/>
          <p:cNvGrpSpPr>
            <a:grpSpLocks/>
          </p:cNvGrpSpPr>
          <p:nvPr/>
        </p:nvGrpSpPr>
        <p:grpSpPr bwMode="auto">
          <a:xfrm>
            <a:off x="1295750" y="609600"/>
            <a:ext cx="6087713" cy="2059459"/>
            <a:chOff x="6908" y="11600"/>
            <a:chExt cx="4719" cy="1400"/>
          </a:xfrm>
        </p:grpSpPr>
        <p:sp>
          <p:nvSpPr>
            <p:cNvPr id="43012" name="Text Box 4"/>
            <p:cNvSpPr txBox="1">
              <a:spLocks noChangeArrowheads="1"/>
            </p:cNvSpPr>
            <p:nvPr/>
          </p:nvSpPr>
          <p:spPr bwMode="auto">
            <a:xfrm>
              <a:off x="6908" y="11600"/>
              <a:ext cx="790" cy="9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400" b="0" i="0" u="none" strike="noStrike" cap="none" normalizeH="0" baseline="0" dirty="0" smtClean="0">
                  <a:ln>
                    <a:noFill/>
                  </a:ln>
                  <a:solidFill>
                    <a:schemeClr val="tx1"/>
                  </a:solidFill>
                  <a:effectLst/>
                  <a:latin typeface="Calibri" pitchFamily="34" charset="0"/>
                  <a:cs typeface="Arial" pitchFamily="34" charset="0"/>
                </a:rPr>
                <a:t>100 mm</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p:txBody>
        </p:sp>
        <p:sp>
          <p:nvSpPr>
            <p:cNvPr id="43013" name="Rectangle 5"/>
            <p:cNvSpPr>
              <a:spLocks noChangeArrowheads="1"/>
            </p:cNvSpPr>
            <p:nvPr/>
          </p:nvSpPr>
          <p:spPr bwMode="auto">
            <a:xfrm>
              <a:off x="7960" y="11762"/>
              <a:ext cx="2363" cy="62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14" name="Line 6"/>
            <p:cNvSpPr>
              <a:spLocks noChangeShapeType="1"/>
            </p:cNvSpPr>
            <p:nvPr/>
          </p:nvSpPr>
          <p:spPr bwMode="auto">
            <a:xfrm>
              <a:off x="9261" y="11762"/>
              <a:ext cx="0" cy="62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15" name="Line 7"/>
            <p:cNvSpPr>
              <a:spLocks noChangeShapeType="1"/>
            </p:cNvSpPr>
            <p:nvPr/>
          </p:nvSpPr>
          <p:spPr bwMode="auto">
            <a:xfrm>
              <a:off x="7960" y="11969"/>
              <a:ext cx="1301" cy="0"/>
            </a:xfrm>
            <a:prstGeom prst="lin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16" name="Line 8"/>
            <p:cNvSpPr>
              <a:spLocks noChangeShapeType="1"/>
            </p:cNvSpPr>
            <p:nvPr/>
          </p:nvSpPr>
          <p:spPr bwMode="auto">
            <a:xfrm>
              <a:off x="7960" y="12175"/>
              <a:ext cx="1301" cy="0"/>
            </a:xfrm>
            <a:prstGeom prst="lin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17" name="Rectangle 9"/>
            <p:cNvSpPr>
              <a:spLocks noChangeArrowheads="1"/>
            </p:cNvSpPr>
            <p:nvPr/>
          </p:nvSpPr>
          <p:spPr bwMode="auto">
            <a:xfrm>
              <a:off x="10323" y="11941"/>
              <a:ext cx="1180" cy="31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18" name="Line 10"/>
            <p:cNvSpPr>
              <a:spLocks noChangeShapeType="1"/>
            </p:cNvSpPr>
            <p:nvPr/>
          </p:nvSpPr>
          <p:spPr bwMode="auto">
            <a:xfrm flipH="1">
              <a:off x="7561" y="11762"/>
              <a:ext cx="236"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19" name="Line 11"/>
            <p:cNvSpPr>
              <a:spLocks noChangeShapeType="1"/>
            </p:cNvSpPr>
            <p:nvPr/>
          </p:nvSpPr>
          <p:spPr bwMode="auto">
            <a:xfrm flipH="1">
              <a:off x="7561" y="12382"/>
              <a:ext cx="236"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20" name="Line 12"/>
            <p:cNvSpPr>
              <a:spLocks noChangeShapeType="1"/>
            </p:cNvSpPr>
            <p:nvPr/>
          </p:nvSpPr>
          <p:spPr bwMode="auto">
            <a:xfrm>
              <a:off x="7678" y="11660"/>
              <a:ext cx="0" cy="825"/>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21" name="Line 13"/>
            <p:cNvSpPr>
              <a:spLocks noChangeShapeType="1"/>
            </p:cNvSpPr>
            <p:nvPr/>
          </p:nvSpPr>
          <p:spPr bwMode="auto">
            <a:xfrm flipH="1">
              <a:off x="7561" y="11705"/>
              <a:ext cx="236" cy="10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22" name="Line 14"/>
            <p:cNvSpPr>
              <a:spLocks noChangeShapeType="1"/>
            </p:cNvSpPr>
            <p:nvPr/>
          </p:nvSpPr>
          <p:spPr bwMode="auto">
            <a:xfrm flipH="1">
              <a:off x="7561" y="12323"/>
              <a:ext cx="236" cy="10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23" name="Line 15"/>
            <p:cNvSpPr>
              <a:spLocks noChangeShapeType="1"/>
            </p:cNvSpPr>
            <p:nvPr/>
          </p:nvSpPr>
          <p:spPr bwMode="auto">
            <a:xfrm>
              <a:off x="7960" y="12485"/>
              <a:ext cx="0" cy="20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24" name="Line 16"/>
            <p:cNvSpPr>
              <a:spLocks noChangeShapeType="1"/>
            </p:cNvSpPr>
            <p:nvPr/>
          </p:nvSpPr>
          <p:spPr bwMode="auto">
            <a:xfrm>
              <a:off x="9261" y="12485"/>
              <a:ext cx="0" cy="20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25" name="Line 17"/>
            <p:cNvSpPr>
              <a:spLocks noChangeShapeType="1"/>
            </p:cNvSpPr>
            <p:nvPr/>
          </p:nvSpPr>
          <p:spPr bwMode="auto">
            <a:xfrm>
              <a:off x="10323" y="12485"/>
              <a:ext cx="0" cy="20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26" name="Line 18"/>
            <p:cNvSpPr>
              <a:spLocks noChangeShapeType="1"/>
            </p:cNvSpPr>
            <p:nvPr/>
          </p:nvSpPr>
          <p:spPr bwMode="auto">
            <a:xfrm>
              <a:off x="11503" y="12485"/>
              <a:ext cx="0" cy="20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27" name="Line 19"/>
            <p:cNvSpPr>
              <a:spLocks noChangeShapeType="1"/>
            </p:cNvSpPr>
            <p:nvPr/>
          </p:nvSpPr>
          <p:spPr bwMode="auto">
            <a:xfrm rot="8801909" flipH="1">
              <a:off x="7843" y="12529"/>
              <a:ext cx="236" cy="10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28" name="Line 20"/>
            <p:cNvSpPr>
              <a:spLocks noChangeShapeType="1"/>
            </p:cNvSpPr>
            <p:nvPr/>
          </p:nvSpPr>
          <p:spPr bwMode="auto">
            <a:xfrm rot="8801909" flipH="1">
              <a:off x="9131" y="12533"/>
              <a:ext cx="235" cy="10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29" name="Line 21"/>
            <p:cNvSpPr>
              <a:spLocks noChangeShapeType="1"/>
            </p:cNvSpPr>
            <p:nvPr/>
          </p:nvSpPr>
          <p:spPr bwMode="auto">
            <a:xfrm rot="8801909" flipH="1">
              <a:off x="10205" y="12529"/>
              <a:ext cx="236" cy="10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30" name="Line 22"/>
            <p:cNvSpPr>
              <a:spLocks noChangeShapeType="1"/>
            </p:cNvSpPr>
            <p:nvPr/>
          </p:nvSpPr>
          <p:spPr bwMode="auto">
            <a:xfrm rot="8801909" flipH="1">
              <a:off x="11390" y="12529"/>
              <a:ext cx="237" cy="10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31" name="Text Box 23"/>
            <p:cNvSpPr txBox="1">
              <a:spLocks noChangeArrowheads="1"/>
            </p:cNvSpPr>
            <p:nvPr/>
          </p:nvSpPr>
          <p:spPr bwMode="auto">
            <a:xfrm>
              <a:off x="8263" y="12588"/>
              <a:ext cx="621" cy="4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400" b="0" i="0" u="none" strike="noStrike" cap="none" normalizeH="0" baseline="0" dirty="0" smtClean="0">
                  <a:ln>
                    <a:noFill/>
                  </a:ln>
                  <a:solidFill>
                    <a:schemeClr val="tx1"/>
                  </a:solidFill>
                  <a:effectLst/>
                  <a:latin typeface="Calibri" pitchFamily="34" charset="0"/>
                  <a:cs typeface="Arial" pitchFamily="34" charset="0"/>
                </a:rPr>
                <a:t>L</a:t>
              </a:r>
              <a:r>
                <a:rPr kumimoji="0" lang="en-IN" sz="1400" b="0" i="0" u="none" strike="noStrike" cap="none" normalizeH="0" baseline="-25000" dirty="0" smtClean="0">
                  <a:ln>
                    <a:noFill/>
                  </a:ln>
                  <a:solidFill>
                    <a:schemeClr val="tx1"/>
                  </a:solidFill>
                  <a:effectLst/>
                  <a:latin typeface="Calibri" pitchFamily="34" charset="0"/>
                  <a:cs typeface="Arial" pitchFamily="34" charset="0"/>
                </a:rPr>
                <a:t>1</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p:txBody>
        </p:sp>
        <p:sp>
          <p:nvSpPr>
            <p:cNvPr id="43032" name="Text Box 24"/>
            <p:cNvSpPr txBox="1">
              <a:spLocks noChangeArrowheads="1"/>
            </p:cNvSpPr>
            <p:nvPr/>
          </p:nvSpPr>
          <p:spPr bwMode="auto">
            <a:xfrm>
              <a:off x="10795" y="12588"/>
              <a:ext cx="537" cy="4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400" b="0" i="0" u="none" strike="noStrike" cap="none" normalizeH="0" baseline="0" smtClean="0">
                  <a:ln>
                    <a:noFill/>
                  </a:ln>
                  <a:solidFill>
                    <a:schemeClr val="tx1"/>
                  </a:solidFill>
                  <a:effectLst/>
                  <a:latin typeface="Calibri" pitchFamily="34" charset="0"/>
                  <a:cs typeface="Arial" pitchFamily="34" charset="0"/>
                </a:rPr>
                <a:t>L</a:t>
              </a:r>
              <a:r>
                <a:rPr kumimoji="0" lang="en-IN" sz="1400" b="0" i="0" u="none" strike="noStrike" cap="none" normalizeH="0" baseline="-25000" smtClean="0">
                  <a:ln>
                    <a:noFill/>
                  </a:ln>
                  <a:solidFill>
                    <a:schemeClr val="tx1"/>
                  </a:solidFill>
                  <a:effectLst/>
                  <a:latin typeface="Calibri" pitchFamily="34" charset="0"/>
                  <a:cs typeface="Arial" pitchFamily="34" charset="0"/>
                </a:rPr>
                <a:t>3</a:t>
              </a:r>
              <a:endParaRPr kumimoji="0" lang="en-US" sz="1400" b="0" i="0" u="none" strike="noStrike" cap="none" normalizeH="0" baseline="0" smtClean="0">
                <a:ln>
                  <a:noFill/>
                </a:ln>
                <a:solidFill>
                  <a:schemeClr val="tx1"/>
                </a:solidFill>
                <a:effectLst/>
                <a:latin typeface="Arial" pitchFamily="34" charset="0"/>
                <a:cs typeface="Arial" pitchFamily="34" charset="0"/>
              </a:endParaRPr>
            </a:p>
          </p:txBody>
        </p:sp>
        <p:sp>
          <p:nvSpPr>
            <p:cNvPr id="43033" name="Rectangle 25" descr="Light upward diagonal"/>
            <p:cNvSpPr>
              <a:spLocks noChangeArrowheads="1"/>
            </p:cNvSpPr>
            <p:nvPr/>
          </p:nvSpPr>
          <p:spPr bwMode="auto">
            <a:xfrm>
              <a:off x="7857" y="11660"/>
              <a:ext cx="117" cy="825"/>
            </a:xfrm>
            <a:prstGeom prst="rect">
              <a:avLst/>
            </a:prstGeom>
            <a:pattFill prst="ltUpDiag">
              <a:fgClr>
                <a:srgbClr val="000000"/>
              </a:fgClr>
              <a:bgClr>
                <a:srgbClr val="FFFFFF"/>
              </a:bgClr>
            </a:patt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34" name="Line 26"/>
            <p:cNvSpPr>
              <a:spLocks noChangeShapeType="1"/>
            </p:cNvSpPr>
            <p:nvPr/>
          </p:nvSpPr>
          <p:spPr bwMode="auto">
            <a:xfrm>
              <a:off x="7960" y="11650"/>
              <a:ext cx="0" cy="825"/>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3035" name="Text Box 27"/>
            <p:cNvSpPr txBox="1">
              <a:spLocks noChangeArrowheads="1"/>
            </p:cNvSpPr>
            <p:nvPr/>
          </p:nvSpPr>
          <p:spPr bwMode="auto">
            <a:xfrm>
              <a:off x="8535" y="11952"/>
              <a:ext cx="995" cy="3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400" b="0" i="0" u="none" strike="noStrike" cap="none" normalizeH="0" baseline="0" dirty="0" smtClean="0">
                  <a:ln>
                    <a:noFill/>
                  </a:ln>
                  <a:solidFill>
                    <a:schemeClr val="tx1"/>
                  </a:solidFill>
                  <a:effectLst/>
                  <a:latin typeface="Calibri" pitchFamily="34" charset="0"/>
                  <a:cs typeface="Arial" pitchFamily="34" charset="0"/>
                </a:rPr>
                <a:t>60 mm</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p:txBody>
        </p:sp>
        <p:sp>
          <p:nvSpPr>
            <p:cNvPr id="43036" name="Line 28"/>
            <p:cNvSpPr>
              <a:spLocks noChangeShapeType="1"/>
            </p:cNvSpPr>
            <p:nvPr/>
          </p:nvSpPr>
          <p:spPr bwMode="auto">
            <a:xfrm>
              <a:off x="10795" y="11911"/>
              <a:ext cx="0" cy="347"/>
            </a:xfrm>
            <a:prstGeom prst="line">
              <a:avLst/>
            </a:prstGeom>
            <a:noFill/>
            <a:ln w="9525">
              <a:solidFill>
                <a:srgbClr val="000000"/>
              </a:solidFill>
              <a:round/>
              <a:headEnd type="stealth" w="sm" len="sm"/>
              <a:tailEnd type="stealth" w="sm" len="sm"/>
            </a:ln>
          </p:spPr>
          <p:txBody>
            <a:bodyPr vert="horz" wrap="square" lIns="91440" tIns="45720" rIns="91440" bIns="45720" numCol="1" anchor="t" anchorCtr="0" compatLnSpc="1">
              <a:prstTxWarp prst="textNoShape">
                <a:avLst/>
              </a:prstTxWarp>
            </a:bodyPr>
            <a:lstStyle/>
            <a:p>
              <a:endParaRPr lang="en-IN"/>
            </a:p>
          </p:txBody>
        </p:sp>
        <p:sp>
          <p:nvSpPr>
            <p:cNvPr id="43037" name="Text Box 29"/>
            <p:cNvSpPr txBox="1">
              <a:spLocks noChangeArrowheads="1"/>
            </p:cNvSpPr>
            <p:nvPr/>
          </p:nvSpPr>
          <p:spPr bwMode="auto">
            <a:xfrm>
              <a:off x="9530" y="12583"/>
              <a:ext cx="620" cy="4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400" b="0" i="0" u="none" strike="noStrike" cap="none" normalizeH="0" baseline="0" smtClean="0">
                  <a:ln>
                    <a:noFill/>
                  </a:ln>
                  <a:solidFill>
                    <a:schemeClr val="tx1"/>
                  </a:solidFill>
                  <a:effectLst/>
                  <a:latin typeface="Calibri" pitchFamily="34" charset="0"/>
                  <a:cs typeface="Arial" pitchFamily="34" charset="0"/>
                </a:rPr>
                <a:t>L</a:t>
              </a:r>
              <a:r>
                <a:rPr kumimoji="0" lang="en-IN" sz="1400" b="0" i="0" u="none" strike="noStrike" cap="none" normalizeH="0" baseline="-25000" smtClean="0">
                  <a:ln>
                    <a:noFill/>
                  </a:ln>
                  <a:solidFill>
                    <a:schemeClr val="tx1"/>
                  </a:solidFill>
                  <a:effectLst/>
                  <a:latin typeface="Calibri" pitchFamily="34" charset="0"/>
                  <a:cs typeface="Arial" pitchFamily="34" charset="0"/>
                </a:rPr>
                <a:t>2</a:t>
              </a:r>
              <a:endParaRPr kumimoji="0" lang="en-US" sz="1400" b="0" i="0" u="none" strike="noStrike" cap="none" normalizeH="0" baseline="0" smtClean="0">
                <a:ln>
                  <a:noFill/>
                </a:ln>
                <a:solidFill>
                  <a:schemeClr val="tx1"/>
                </a:solidFill>
                <a:effectLst/>
                <a:latin typeface="Arial" pitchFamily="34" charset="0"/>
                <a:cs typeface="Arial" pitchFamily="34" charset="0"/>
              </a:endParaRPr>
            </a:p>
          </p:txBody>
        </p:sp>
        <p:sp>
          <p:nvSpPr>
            <p:cNvPr id="43038" name="Line 30"/>
            <p:cNvSpPr>
              <a:spLocks noChangeShapeType="1"/>
            </p:cNvSpPr>
            <p:nvPr/>
          </p:nvSpPr>
          <p:spPr bwMode="auto">
            <a:xfrm flipV="1">
              <a:off x="7986" y="12583"/>
              <a:ext cx="3641" cy="5"/>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grpSp>
      <p:sp>
        <p:nvSpPr>
          <p:cNvPr id="43039" name="Text Box 31"/>
          <p:cNvSpPr txBox="1">
            <a:spLocks noChangeArrowheads="1"/>
          </p:cNvSpPr>
          <p:nvPr/>
        </p:nvSpPr>
        <p:spPr bwMode="auto">
          <a:xfrm>
            <a:off x="6477000" y="1252538"/>
            <a:ext cx="581025" cy="19526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400" b="0" i="0" u="none" strike="noStrike" cap="none" normalizeH="0" baseline="0" dirty="0" smtClean="0">
                <a:ln>
                  <a:noFill/>
                </a:ln>
                <a:solidFill>
                  <a:schemeClr val="tx1"/>
                </a:solidFill>
                <a:effectLst/>
                <a:latin typeface="Calibri" pitchFamily="34" charset="0"/>
                <a:cs typeface="Arial" pitchFamily="34" charset="0"/>
              </a:rPr>
              <a:t>80 mm</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p:txBody>
      </p:sp>
      <p:sp>
        <p:nvSpPr>
          <p:cNvPr id="43040" name="Rectangle 32"/>
          <p:cNvSpPr>
            <a:spLocks noChangeArrowheads="1"/>
          </p:cNvSpPr>
          <p:nvPr/>
        </p:nvSpPr>
        <p:spPr bwMode="auto">
          <a:xfrm>
            <a:off x="0" y="2949476"/>
            <a:ext cx="9144000"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mic Sans MS" pitchFamily="66" charset="0"/>
                <a:ea typeface="Times New Roman" pitchFamily="18" charset="0"/>
                <a:cs typeface="Arial" pitchFamily="34" charset="0"/>
              </a:rPr>
              <a:t>A steel shaft has a total length of 3m and has different sections as shown in Fig. The first section is hollow having internal and external diameters 60 mm and 100 mm respectively. The second section is a solid shaft of diameter 100mm and the third section is a solid shaft of diameter 80 mm. If all these sections are joined rigidly to each other and the angle of twist at each section is same. Find the</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Comic Sans MS" pitchFamily="66" charset="0"/>
                <a:ea typeface="Times New Roman" pitchFamily="18" charset="0"/>
                <a:cs typeface="Arial" pitchFamily="34" charset="0"/>
              </a:rPr>
              <a:t>a)</a:t>
            </a:r>
            <a:r>
              <a:rPr kumimoji="0" lang="en-US" sz="1600" b="0" i="0" u="none" strike="noStrike" cap="none" normalizeH="0" baseline="0" dirty="0" smtClean="0">
                <a:ln>
                  <a:noFill/>
                </a:ln>
                <a:solidFill>
                  <a:schemeClr val="tx1"/>
                </a:solidFill>
                <a:effectLst/>
                <a:latin typeface="Comic Sans MS" pitchFamily="66" charset="0"/>
                <a:ea typeface="Times New Roman" pitchFamily="18" charset="0"/>
                <a:cs typeface="Arial" pitchFamily="34" charset="0"/>
              </a:rPr>
              <a:t>   Length of each section.			</a:t>
            </a:r>
            <a:r>
              <a:rPr kumimoji="0" lang="en-US" sz="1600" b="1" i="0" u="none" strike="noStrike" cap="none" normalizeH="0" baseline="0" dirty="0" smtClean="0">
                <a:ln>
                  <a:noFill/>
                </a:ln>
                <a:solidFill>
                  <a:schemeClr val="tx1"/>
                </a:solidFill>
                <a:effectLst/>
                <a:latin typeface="Comic Sans MS" pitchFamily="66" charset="0"/>
                <a:ea typeface="Times New Roman" pitchFamily="18" charset="0"/>
                <a:cs typeface="Arial" pitchFamily="34" charset="0"/>
              </a:rPr>
              <a:t>  </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Comic Sans MS" pitchFamily="66" charset="0"/>
                <a:ea typeface="Times New Roman" pitchFamily="18" charset="0"/>
                <a:cs typeface="Arial" pitchFamily="34" charset="0"/>
              </a:rPr>
              <a:t>b)</a:t>
            </a:r>
            <a:r>
              <a:rPr kumimoji="0" lang="en-US" sz="1600" b="0" i="0" u="none" strike="noStrike" cap="none" normalizeH="0" baseline="0" dirty="0" smtClean="0">
                <a:ln>
                  <a:noFill/>
                </a:ln>
                <a:solidFill>
                  <a:schemeClr val="tx1"/>
                </a:solidFill>
                <a:effectLst/>
                <a:latin typeface="Comic Sans MS" pitchFamily="66" charset="0"/>
                <a:ea typeface="Times New Roman" pitchFamily="18" charset="0"/>
                <a:cs typeface="Arial" pitchFamily="34" charset="0"/>
              </a:rPr>
              <a:t>   Maximum torque and angle of twist.              </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mic Sans MS" pitchFamily="66" charset="0"/>
                <a:ea typeface="Times New Roman" pitchFamily="18" charset="0"/>
                <a:cs typeface="Arial" pitchFamily="34" charset="0"/>
              </a:rPr>
              <a:t>Maximum shear stress in hollow section is 47.5 </a:t>
            </a:r>
            <a:r>
              <a:rPr kumimoji="0" lang="en-US" sz="1600" b="0" i="0" u="none" strike="noStrike" cap="none" normalizeH="0" baseline="0" dirty="0" err="1" smtClean="0">
                <a:ln>
                  <a:noFill/>
                </a:ln>
                <a:solidFill>
                  <a:schemeClr val="tx1"/>
                </a:solidFill>
                <a:effectLst/>
                <a:latin typeface="Comic Sans MS" pitchFamily="66" charset="0"/>
                <a:ea typeface="Times New Roman" pitchFamily="18" charset="0"/>
                <a:cs typeface="Arial" pitchFamily="34" charset="0"/>
              </a:rPr>
              <a:t>MPa</a:t>
            </a:r>
            <a:r>
              <a:rPr kumimoji="0" lang="en-US" sz="1600" b="0" i="0" u="none" strike="noStrike" cap="none" normalizeH="0" baseline="0" dirty="0" smtClean="0">
                <a:ln>
                  <a:noFill/>
                </a:ln>
                <a:solidFill>
                  <a:schemeClr val="tx1"/>
                </a:solidFill>
                <a:effectLst/>
                <a:latin typeface="Comic Sans MS" pitchFamily="66" charset="0"/>
                <a:ea typeface="Times New Roman" pitchFamily="18" charset="0"/>
                <a:cs typeface="Arial" pitchFamily="34" charset="0"/>
              </a:rPr>
              <a:t>.</a:t>
            </a:r>
            <a:endParaRPr kumimoji="0" lang="en-US" sz="1600" b="0" i="0" u="none" strike="noStrike" cap="none" normalizeH="0" baseline="0" dirty="0" smtClean="0">
              <a:ln>
                <a:noFill/>
              </a:ln>
              <a:solidFill>
                <a:schemeClr val="tx1"/>
              </a:solidFill>
              <a:effectLst/>
              <a:latin typeface="Comic Sans MS" pitchFamily="66" charset="0"/>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mic Sans MS" pitchFamily="66" charset="0"/>
                <a:ea typeface="Times New Roman" pitchFamily="18" charset="0"/>
                <a:cs typeface="Times New Roman" pitchFamily="18" charset="0"/>
              </a:rPr>
              <a:t>Assume G = 82.5 </a:t>
            </a:r>
            <a:r>
              <a:rPr kumimoji="0" lang="en-US" sz="1600" b="0" i="0" u="none" strike="noStrike" cap="none" normalizeH="0" baseline="0" dirty="0" err="1" smtClean="0">
                <a:ln>
                  <a:noFill/>
                </a:ln>
                <a:solidFill>
                  <a:schemeClr val="tx1"/>
                </a:solidFill>
                <a:effectLst/>
                <a:latin typeface="Comic Sans MS" pitchFamily="66" charset="0"/>
                <a:ea typeface="Times New Roman" pitchFamily="18" charset="0"/>
                <a:cs typeface="Times New Roman" pitchFamily="18" charset="0"/>
              </a:rPr>
              <a:t>GPa</a:t>
            </a:r>
            <a:r>
              <a:rPr kumimoji="0" lang="en-US" sz="1600" b="0" i="0" u="none" strike="noStrike" cap="none" normalizeH="0" baseline="0" dirty="0" smtClean="0">
                <a:ln>
                  <a:noFill/>
                </a:ln>
                <a:solidFill>
                  <a:schemeClr val="tx1"/>
                </a:solidFill>
                <a:effectLst/>
                <a:latin typeface="Comic Sans MS" pitchFamily="66" charset="0"/>
                <a:ea typeface="Times New Roman" pitchFamily="18" charset="0"/>
                <a:cs typeface="Times New Roman" pitchFamily="18" charset="0"/>
              </a:rPr>
              <a:t>.</a:t>
            </a:r>
            <a:r>
              <a:rPr kumimoji="0" lang="en-US" sz="1600" b="0" i="0" u="none" strike="noStrike" cap="none" normalizeH="0" baseline="0" dirty="0" smtClean="0">
                <a:ln>
                  <a:noFill/>
                </a:ln>
                <a:solidFill>
                  <a:schemeClr val="tx1"/>
                </a:solidFill>
                <a:effectLst/>
                <a:latin typeface="Arial" pitchFamily="34" charset="0"/>
                <a:cs typeface="Arial" pitchFamily="34" charset="0"/>
              </a:rPr>
              <a:t>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Group 2"/>
          <p:cNvGrpSpPr>
            <a:grpSpLocks/>
          </p:cNvGrpSpPr>
          <p:nvPr/>
        </p:nvGrpSpPr>
        <p:grpSpPr bwMode="auto">
          <a:xfrm>
            <a:off x="2514600" y="457200"/>
            <a:ext cx="4267200" cy="2133600"/>
            <a:chOff x="6516" y="8738"/>
            <a:chExt cx="4440" cy="2130"/>
          </a:xfrm>
        </p:grpSpPr>
        <p:sp>
          <p:nvSpPr>
            <p:cNvPr id="41987" name="Line 3"/>
            <p:cNvSpPr>
              <a:spLocks noChangeShapeType="1"/>
            </p:cNvSpPr>
            <p:nvPr/>
          </p:nvSpPr>
          <p:spPr bwMode="auto">
            <a:xfrm>
              <a:off x="6741" y="8873"/>
              <a:ext cx="1" cy="144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p>
          </p:txBody>
        </p:sp>
        <p:sp>
          <p:nvSpPr>
            <p:cNvPr id="41988" name="Rectangle 4"/>
            <p:cNvSpPr>
              <a:spLocks noChangeArrowheads="1"/>
            </p:cNvSpPr>
            <p:nvPr/>
          </p:nvSpPr>
          <p:spPr bwMode="auto">
            <a:xfrm>
              <a:off x="6741" y="9233"/>
              <a:ext cx="2160" cy="72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sz="1400"/>
            </a:p>
          </p:txBody>
        </p:sp>
        <p:sp>
          <p:nvSpPr>
            <p:cNvPr id="41989" name="Rectangle 5"/>
            <p:cNvSpPr>
              <a:spLocks noChangeArrowheads="1"/>
            </p:cNvSpPr>
            <p:nvPr/>
          </p:nvSpPr>
          <p:spPr bwMode="auto">
            <a:xfrm>
              <a:off x="8901" y="9413"/>
              <a:ext cx="1080" cy="36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sz="1400"/>
            </a:p>
          </p:txBody>
        </p:sp>
        <p:sp>
          <p:nvSpPr>
            <p:cNvPr id="41990" name="AutoShape 6"/>
            <p:cNvSpPr>
              <a:spLocks noChangeArrowheads="1"/>
            </p:cNvSpPr>
            <p:nvPr/>
          </p:nvSpPr>
          <p:spPr bwMode="auto">
            <a:xfrm>
              <a:off x="9861" y="9368"/>
              <a:ext cx="255" cy="405"/>
            </a:xfrm>
            <a:prstGeom prst="curvedDownArrow">
              <a:avLst>
                <a:gd name="adj1" fmla="val 20000"/>
                <a:gd name="adj2" fmla="val 40000"/>
                <a:gd name="adj3" fmla="val 52941"/>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sz="1400"/>
            </a:p>
          </p:txBody>
        </p:sp>
        <p:sp>
          <p:nvSpPr>
            <p:cNvPr id="41991" name="AutoShape 7"/>
            <p:cNvSpPr>
              <a:spLocks noChangeArrowheads="1"/>
            </p:cNvSpPr>
            <p:nvPr/>
          </p:nvSpPr>
          <p:spPr bwMode="auto">
            <a:xfrm>
              <a:off x="8256" y="9113"/>
              <a:ext cx="465" cy="840"/>
            </a:xfrm>
            <a:prstGeom prst="curvedDownArrow">
              <a:avLst>
                <a:gd name="adj1" fmla="val 20000"/>
                <a:gd name="adj2" fmla="val 40000"/>
                <a:gd name="adj3" fmla="val 60215"/>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sz="1400"/>
            </a:p>
          </p:txBody>
        </p:sp>
        <p:sp>
          <p:nvSpPr>
            <p:cNvPr id="41992" name="Line 8"/>
            <p:cNvSpPr>
              <a:spLocks noChangeShapeType="1"/>
            </p:cNvSpPr>
            <p:nvPr/>
          </p:nvSpPr>
          <p:spPr bwMode="auto">
            <a:xfrm>
              <a:off x="8436" y="9953"/>
              <a:ext cx="1" cy="36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p>
          </p:txBody>
        </p:sp>
        <p:sp>
          <p:nvSpPr>
            <p:cNvPr id="41993" name="Line 9"/>
            <p:cNvSpPr>
              <a:spLocks noChangeShapeType="1"/>
            </p:cNvSpPr>
            <p:nvPr/>
          </p:nvSpPr>
          <p:spPr bwMode="auto">
            <a:xfrm>
              <a:off x="9980" y="9968"/>
              <a:ext cx="1" cy="36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p>
          </p:txBody>
        </p:sp>
        <p:sp>
          <p:nvSpPr>
            <p:cNvPr id="41994" name="Line 10"/>
            <p:cNvSpPr>
              <a:spLocks noChangeShapeType="1"/>
            </p:cNvSpPr>
            <p:nvPr/>
          </p:nvSpPr>
          <p:spPr bwMode="auto">
            <a:xfrm>
              <a:off x="8900" y="9968"/>
              <a:ext cx="1" cy="36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p>
          </p:txBody>
        </p:sp>
        <p:sp>
          <p:nvSpPr>
            <p:cNvPr id="41995" name="Line 11"/>
            <p:cNvSpPr>
              <a:spLocks noChangeShapeType="1"/>
            </p:cNvSpPr>
            <p:nvPr/>
          </p:nvSpPr>
          <p:spPr bwMode="auto">
            <a:xfrm>
              <a:off x="8091" y="10208"/>
              <a:ext cx="360"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1400"/>
            </a:p>
          </p:txBody>
        </p:sp>
        <p:sp>
          <p:nvSpPr>
            <p:cNvPr id="41996" name="Line 12"/>
            <p:cNvSpPr>
              <a:spLocks noChangeShapeType="1"/>
            </p:cNvSpPr>
            <p:nvPr/>
          </p:nvSpPr>
          <p:spPr bwMode="auto">
            <a:xfrm flipH="1">
              <a:off x="6741" y="10208"/>
              <a:ext cx="360"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1400"/>
            </a:p>
          </p:txBody>
        </p:sp>
        <p:sp>
          <p:nvSpPr>
            <p:cNvPr id="41997" name="Text Box 13"/>
            <p:cNvSpPr txBox="1">
              <a:spLocks noChangeArrowheads="1"/>
            </p:cNvSpPr>
            <p:nvPr/>
          </p:nvSpPr>
          <p:spPr bwMode="auto">
            <a:xfrm>
              <a:off x="7191" y="9998"/>
              <a:ext cx="900"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Calibri" pitchFamily="34" charset="0"/>
                  <a:cs typeface="Arial" pitchFamily="34" charset="0"/>
                </a:rPr>
                <a:t>0.6 m</a:t>
              </a:r>
              <a:endParaRPr kumimoji="0" lang="en-US" sz="1400" b="0" i="0" u="none" strike="noStrike" cap="none" normalizeH="0" baseline="0" smtClean="0">
                <a:ln>
                  <a:noFill/>
                </a:ln>
                <a:solidFill>
                  <a:schemeClr val="tx1"/>
                </a:solidFill>
                <a:effectLst/>
                <a:latin typeface="Arial" pitchFamily="34" charset="0"/>
                <a:cs typeface="Arial" pitchFamily="34" charset="0"/>
              </a:endParaRPr>
            </a:p>
          </p:txBody>
        </p:sp>
        <p:sp>
          <p:nvSpPr>
            <p:cNvPr id="41998" name="Line 14"/>
            <p:cNvSpPr>
              <a:spLocks noChangeShapeType="1"/>
            </p:cNvSpPr>
            <p:nvPr/>
          </p:nvSpPr>
          <p:spPr bwMode="auto">
            <a:xfrm flipH="1">
              <a:off x="8901" y="10238"/>
              <a:ext cx="180"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1400"/>
            </a:p>
          </p:txBody>
        </p:sp>
        <p:sp>
          <p:nvSpPr>
            <p:cNvPr id="41999" name="Line 15"/>
            <p:cNvSpPr>
              <a:spLocks noChangeShapeType="1"/>
            </p:cNvSpPr>
            <p:nvPr/>
          </p:nvSpPr>
          <p:spPr bwMode="auto">
            <a:xfrm>
              <a:off x="9801" y="10253"/>
              <a:ext cx="180"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1400"/>
            </a:p>
          </p:txBody>
        </p:sp>
        <p:sp>
          <p:nvSpPr>
            <p:cNvPr id="42000" name="Text Box 16"/>
            <p:cNvSpPr txBox="1">
              <a:spLocks noChangeArrowheads="1"/>
            </p:cNvSpPr>
            <p:nvPr/>
          </p:nvSpPr>
          <p:spPr bwMode="auto">
            <a:xfrm>
              <a:off x="9006" y="10043"/>
              <a:ext cx="900"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Calibri" pitchFamily="34" charset="0"/>
                  <a:cs typeface="Arial" pitchFamily="34" charset="0"/>
                </a:rPr>
                <a:t>0.4 m</a:t>
              </a:r>
              <a:endParaRPr kumimoji="0" lang="en-US" sz="1400" b="0" i="0" u="none" strike="noStrike" cap="none" normalizeH="0" baseline="0" smtClean="0">
                <a:ln>
                  <a:noFill/>
                </a:ln>
                <a:solidFill>
                  <a:schemeClr val="tx1"/>
                </a:solidFill>
                <a:effectLst/>
                <a:latin typeface="Arial" pitchFamily="34" charset="0"/>
                <a:cs typeface="Arial" pitchFamily="34" charset="0"/>
              </a:endParaRPr>
            </a:p>
          </p:txBody>
        </p:sp>
        <p:sp>
          <p:nvSpPr>
            <p:cNvPr id="42001" name="Text Box 17"/>
            <p:cNvSpPr txBox="1">
              <a:spLocks noChangeArrowheads="1"/>
            </p:cNvSpPr>
            <p:nvPr/>
          </p:nvSpPr>
          <p:spPr bwMode="auto">
            <a:xfrm>
              <a:off x="8256" y="10238"/>
              <a:ext cx="900"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Calibri" pitchFamily="34" charset="0"/>
                  <a:cs typeface="Arial" pitchFamily="34" charset="0"/>
                </a:rPr>
                <a:t>0.2 m</a:t>
              </a:r>
              <a:endParaRPr kumimoji="0" lang="en-US" sz="1400" b="0" i="0" u="none" strike="noStrike" cap="none" normalizeH="0" baseline="0" smtClean="0">
                <a:ln>
                  <a:noFill/>
                </a:ln>
                <a:solidFill>
                  <a:schemeClr val="tx1"/>
                </a:solidFill>
                <a:effectLst/>
                <a:latin typeface="Arial" pitchFamily="34" charset="0"/>
                <a:cs typeface="Arial" pitchFamily="34" charset="0"/>
              </a:endParaRPr>
            </a:p>
          </p:txBody>
        </p:sp>
        <p:sp>
          <p:nvSpPr>
            <p:cNvPr id="42002" name="Text Box 18"/>
            <p:cNvSpPr txBox="1">
              <a:spLocks noChangeArrowheads="1"/>
            </p:cNvSpPr>
            <p:nvPr/>
          </p:nvSpPr>
          <p:spPr bwMode="auto">
            <a:xfrm>
              <a:off x="6921" y="9413"/>
              <a:ext cx="1080"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Calibri" pitchFamily="34" charset="0"/>
                  <a:cs typeface="Arial" pitchFamily="34" charset="0"/>
                </a:rPr>
                <a:t>0.06 m</a:t>
              </a:r>
              <a:endParaRPr kumimoji="0" lang="en-US" sz="1400" b="0" i="0" u="none" strike="noStrike" cap="none" normalizeH="0" baseline="0" smtClean="0">
                <a:ln>
                  <a:noFill/>
                </a:ln>
                <a:solidFill>
                  <a:schemeClr val="tx1"/>
                </a:solidFill>
                <a:effectLst/>
                <a:latin typeface="Arial" pitchFamily="34" charset="0"/>
                <a:cs typeface="Arial" pitchFamily="34" charset="0"/>
              </a:endParaRPr>
            </a:p>
          </p:txBody>
        </p:sp>
        <p:sp>
          <p:nvSpPr>
            <p:cNvPr id="42003" name="Text Box 19"/>
            <p:cNvSpPr txBox="1">
              <a:spLocks noChangeArrowheads="1"/>
            </p:cNvSpPr>
            <p:nvPr/>
          </p:nvSpPr>
          <p:spPr bwMode="auto">
            <a:xfrm>
              <a:off x="6516" y="10493"/>
              <a:ext cx="540"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Calibri" pitchFamily="34" charset="0"/>
                  <a:cs typeface="Arial" pitchFamily="34" charset="0"/>
                </a:rPr>
                <a:t>D</a:t>
              </a:r>
              <a:endParaRPr kumimoji="0" lang="en-US" sz="1400" b="0" i="0" u="none" strike="noStrike" cap="none" normalizeH="0" baseline="0" smtClean="0">
                <a:ln>
                  <a:noFill/>
                </a:ln>
                <a:solidFill>
                  <a:schemeClr val="tx1"/>
                </a:solidFill>
                <a:effectLst/>
                <a:latin typeface="Arial" pitchFamily="34" charset="0"/>
                <a:cs typeface="Arial" pitchFamily="34" charset="0"/>
              </a:endParaRPr>
            </a:p>
          </p:txBody>
        </p:sp>
        <p:sp>
          <p:nvSpPr>
            <p:cNvPr id="42004" name="Text Box 20"/>
            <p:cNvSpPr txBox="1">
              <a:spLocks noChangeArrowheads="1"/>
            </p:cNvSpPr>
            <p:nvPr/>
          </p:nvSpPr>
          <p:spPr bwMode="auto">
            <a:xfrm>
              <a:off x="9621" y="8993"/>
              <a:ext cx="1335"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Calibri" pitchFamily="34" charset="0"/>
                  <a:cs typeface="Arial" pitchFamily="34" charset="0"/>
                </a:rPr>
                <a:t>250 N.m</a:t>
              </a:r>
              <a:endParaRPr kumimoji="0" lang="en-US" sz="1400" b="0" i="0" u="none" strike="noStrike" cap="none" normalizeH="0" baseline="0" smtClean="0">
                <a:ln>
                  <a:noFill/>
                </a:ln>
                <a:solidFill>
                  <a:schemeClr val="tx1"/>
                </a:solidFill>
                <a:effectLst/>
                <a:latin typeface="Arial" pitchFamily="34" charset="0"/>
                <a:cs typeface="Arial" pitchFamily="34" charset="0"/>
              </a:endParaRPr>
            </a:p>
          </p:txBody>
        </p:sp>
        <p:sp>
          <p:nvSpPr>
            <p:cNvPr id="42005" name="Text Box 21"/>
            <p:cNvSpPr txBox="1">
              <a:spLocks noChangeArrowheads="1"/>
            </p:cNvSpPr>
            <p:nvPr/>
          </p:nvSpPr>
          <p:spPr bwMode="auto">
            <a:xfrm>
              <a:off x="7881" y="8738"/>
              <a:ext cx="1335"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Calibri" pitchFamily="34" charset="0"/>
                  <a:cs typeface="Arial" pitchFamily="34" charset="0"/>
                </a:rPr>
                <a:t>2000 N.m</a:t>
              </a:r>
              <a:endParaRPr kumimoji="0" lang="en-US" sz="1400" b="0" i="0" u="none" strike="noStrike" cap="none" normalizeH="0" baseline="0" smtClean="0">
                <a:ln>
                  <a:noFill/>
                </a:ln>
                <a:solidFill>
                  <a:schemeClr val="tx1"/>
                </a:solidFill>
                <a:effectLst/>
                <a:latin typeface="Arial" pitchFamily="34" charset="0"/>
                <a:cs typeface="Arial" pitchFamily="34" charset="0"/>
              </a:endParaRPr>
            </a:p>
          </p:txBody>
        </p:sp>
        <p:sp>
          <p:nvSpPr>
            <p:cNvPr id="42006" name="Line 22"/>
            <p:cNvSpPr>
              <a:spLocks noChangeShapeType="1"/>
            </p:cNvSpPr>
            <p:nvPr/>
          </p:nvSpPr>
          <p:spPr bwMode="auto">
            <a:xfrm>
              <a:off x="7281" y="9773"/>
              <a:ext cx="0" cy="18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1400"/>
            </a:p>
          </p:txBody>
        </p:sp>
        <p:sp>
          <p:nvSpPr>
            <p:cNvPr id="42007" name="Line 23"/>
            <p:cNvSpPr>
              <a:spLocks noChangeShapeType="1"/>
            </p:cNvSpPr>
            <p:nvPr/>
          </p:nvSpPr>
          <p:spPr bwMode="auto">
            <a:xfrm flipV="1">
              <a:off x="7281" y="9233"/>
              <a:ext cx="0" cy="18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1400"/>
            </a:p>
          </p:txBody>
        </p:sp>
        <p:sp>
          <p:nvSpPr>
            <p:cNvPr id="42008" name="Line 24"/>
            <p:cNvSpPr>
              <a:spLocks noChangeShapeType="1"/>
            </p:cNvSpPr>
            <p:nvPr/>
          </p:nvSpPr>
          <p:spPr bwMode="auto">
            <a:xfrm>
              <a:off x="9441" y="9233"/>
              <a:ext cx="0" cy="18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1400"/>
            </a:p>
          </p:txBody>
        </p:sp>
        <p:sp>
          <p:nvSpPr>
            <p:cNvPr id="42009" name="Line 25"/>
            <p:cNvSpPr>
              <a:spLocks noChangeShapeType="1"/>
            </p:cNvSpPr>
            <p:nvPr/>
          </p:nvSpPr>
          <p:spPr bwMode="auto">
            <a:xfrm flipV="1">
              <a:off x="9441" y="9773"/>
              <a:ext cx="0" cy="18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1400"/>
            </a:p>
          </p:txBody>
        </p:sp>
        <p:sp>
          <p:nvSpPr>
            <p:cNvPr id="42010" name="Text Box 26"/>
            <p:cNvSpPr txBox="1">
              <a:spLocks noChangeArrowheads="1"/>
            </p:cNvSpPr>
            <p:nvPr/>
          </p:nvSpPr>
          <p:spPr bwMode="auto">
            <a:xfrm>
              <a:off x="8901" y="9413"/>
              <a:ext cx="1080"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Calibri" pitchFamily="34" charset="0"/>
                  <a:cs typeface="Arial" pitchFamily="34" charset="0"/>
                </a:rPr>
                <a:t>0.03 m</a:t>
              </a:r>
              <a:endParaRPr kumimoji="0" lang="en-US" sz="1400" b="0" i="0" u="none" strike="noStrike" cap="none" normalizeH="0" baseline="0" smtClean="0">
                <a:ln>
                  <a:noFill/>
                </a:ln>
                <a:solidFill>
                  <a:schemeClr val="tx1"/>
                </a:solidFill>
                <a:effectLst/>
                <a:latin typeface="Arial" pitchFamily="34" charset="0"/>
                <a:cs typeface="Arial" pitchFamily="34" charset="0"/>
              </a:endParaRPr>
            </a:p>
          </p:txBody>
        </p:sp>
        <p:sp>
          <p:nvSpPr>
            <p:cNvPr id="42011" name="Text Box 27"/>
            <p:cNvSpPr txBox="1">
              <a:spLocks noChangeArrowheads="1"/>
            </p:cNvSpPr>
            <p:nvPr/>
          </p:nvSpPr>
          <p:spPr bwMode="auto">
            <a:xfrm>
              <a:off x="8136" y="10508"/>
              <a:ext cx="435"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Calibri" pitchFamily="34" charset="0"/>
                  <a:cs typeface="Arial" pitchFamily="34" charset="0"/>
                </a:rPr>
                <a:t>C</a:t>
              </a:r>
              <a:endParaRPr kumimoji="0" lang="en-US" sz="1400" b="0" i="0" u="none" strike="noStrike" cap="none" normalizeH="0" baseline="0" smtClean="0">
                <a:ln>
                  <a:noFill/>
                </a:ln>
                <a:solidFill>
                  <a:schemeClr val="tx1"/>
                </a:solidFill>
                <a:effectLst/>
                <a:latin typeface="Arial" pitchFamily="34" charset="0"/>
                <a:cs typeface="Arial" pitchFamily="34" charset="0"/>
              </a:endParaRPr>
            </a:p>
          </p:txBody>
        </p:sp>
        <p:sp>
          <p:nvSpPr>
            <p:cNvPr id="42012" name="Text Box 28"/>
            <p:cNvSpPr txBox="1">
              <a:spLocks noChangeArrowheads="1"/>
            </p:cNvSpPr>
            <p:nvPr/>
          </p:nvSpPr>
          <p:spPr bwMode="auto">
            <a:xfrm>
              <a:off x="8691" y="10508"/>
              <a:ext cx="705"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Calibri" pitchFamily="34" charset="0"/>
                  <a:cs typeface="Arial" pitchFamily="34" charset="0"/>
                </a:rPr>
                <a:t>B</a:t>
              </a:r>
              <a:endParaRPr kumimoji="0" lang="en-US" sz="1400" b="0" i="0" u="none" strike="noStrike" cap="none" normalizeH="0" baseline="0" smtClean="0">
                <a:ln>
                  <a:noFill/>
                </a:ln>
                <a:solidFill>
                  <a:schemeClr val="tx1"/>
                </a:solidFill>
                <a:effectLst/>
                <a:latin typeface="Arial" pitchFamily="34" charset="0"/>
                <a:cs typeface="Arial" pitchFamily="34" charset="0"/>
              </a:endParaRPr>
            </a:p>
          </p:txBody>
        </p:sp>
        <p:sp>
          <p:nvSpPr>
            <p:cNvPr id="42013" name="Text Box 29"/>
            <p:cNvSpPr txBox="1">
              <a:spLocks noChangeArrowheads="1"/>
            </p:cNvSpPr>
            <p:nvPr/>
          </p:nvSpPr>
          <p:spPr bwMode="auto">
            <a:xfrm>
              <a:off x="9756" y="10493"/>
              <a:ext cx="540"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Calibri" pitchFamily="34" charset="0"/>
                  <a:cs typeface="Arial" pitchFamily="34" charset="0"/>
                </a:rPr>
                <a:t>A</a:t>
              </a:r>
              <a:endParaRPr kumimoji="0" lang="en-US" sz="1400" b="0" i="0" u="none" strike="noStrike" cap="none" normalizeH="0" baseline="0" smtClean="0">
                <a:ln>
                  <a:noFill/>
                </a:ln>
                <a:solidFill>
                  <a:schemeClr val="tx1"/>
                </a:solidFill>
                <a:effectLst/>
                <a:latin typeface="Arial" pitchFamily="34" charset="0"/>
                <a:cs typeface="Arial" pitchFamily="34" charset="0"/>
              </a:endParaRPr>
            </a:p>
          </p:txBody>
        </p:sp>
        <p:sp>
          <p:nvSpPr>
            <p:cNvPr id="42014" name="Line 30"/>
            <p:cNvSpPr>
              <a:spLocks noChangeShapeType="1"/>
            </p:cNvSpPr>
            <p:nvPr/>
          </p:nvSpPr>
          <p:spPr bwMode="auto">
            <a:xfrm flipV="1">
              <a:off x="6561" y="8873"/>
              <a:ext cx="180" cy="18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p>
          </p:txBody>
        </p:sp>
        <p:sp>
          <p:nvSpPr>
            <p:cNvPr id="42015" name="Line 31"/>
            <p:cNvSpPr>
              <a:spLocks noChangeShapeType="1"/>
            </p:cNvSpPr>
            <p:nvPr/>
          </p:nvSpPr>
          <p:spPr bwMode="auto">
            <a:xfrm flipV="1">
              <a:off x="6561" y="9053"/>
              <a:ext cx="180" cy="18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p>
          </p:txBody>
        </p:sp>
        <p:sp>
          <p:nvSpPr>
            <p:cNvPr id="42016" name="Line 32"/>
            <p:cNvSpPr>
              <a:spLocks noChangeShapeType="1"/>
            </p:cNvSpPr>
            <p:nvPr/>
          </p:nvSpPr>
          <p:spPr bwMode="auto">
            <a:xfrm flipV="1">
              <a:off x="6561" y="9233"/>
              <a:ext cx="180" cy="18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p>
          </p:txBody>
        </p:sp>
        <p:sp>
          <p:nvSpPr>
            <p:cNvPr id="42017" name="Line 33"/>
            <p:cNvSpPr>
              <a:spLocks noChangeShapeType="1"/>
            </p:cNvSpPr>
            <p:nvPr/>
          </p:nvSpPr>
          <p:spPr bwMode="auto">
            <a:xfrm flipV="1">
              <a:off x="6561" y="9413"/>
              <a:ext cx="180" cy="18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p>
          </p:txBody>
        </p:sp>
        <p:sp>
          <p:nvSpPr>
            <p:cNvPr id="42018" name="Line 34"/>
            <p:cNvSpPr>
              <a:spLocks noChangeShapeType="1"/>
            </p:cNvSpPr>
            <p:nvPr/>
          </p:nvSpPr>
          <p:spPr bwMode="auto">
            <a:xfrm flipV="1">
              <a:off x="6561" y="9593"/>
              <a:ext cx="180" cy="18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p>
          </p:txBody>
        </p:sp>
        <p:sp>
          <p:nvSpPr>
            <p:cNvPr id="42019" name="Line 35"/>
            <p:cNvSpPr>
              <a:spLocks noChangeShapeType="1"/>
            </p:cNvSpPr>
            <p:nvPr/>
          </p:nvSpPr>
          <p:spPr bwMode="auto">
            <a:xfrm flipV="1">
              <a:off x="6561" y="9773"/>
              <a:ext cx="180" cy="18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p>
          </p:txBody>
        </p:sp>
        <p:sp>
          <p:nvSpPr>
            <p:cNvPr id="42020" name="Line 36"/>
            <p:cNvSpPr>
              <a:spLocks noChangeShapeType="1"/>
            </p:cNvSpPr>
            <p:nvPr/>
          </p:nvSpPr>
          <p:spPr bwMode="auto">
            <a:xfrm flipV="1">
              <a:off x="6561" y="9953"/>
              <a:ext cx="180" cy="18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p>
          </p:txBody>
        </p:sp>
        <p:sp>
          <p:nvSpPr>
            <p:cNvPr id="42021" name="Line 37"/>
            <p:cNvSpPr>
              <a:spLocks noChangeShapeType="1"/>
            </p:cNvSpPr>
            <p:nvPr/>
          </p:nvSpPr>
          <p:spPr bwMode="auto">
            <a:xfrm flipV="1">
              <a:off x="6561" y="10133"/>
              <a:ext cx="180" cy="18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p>
          </p:txBody>
        </p:sp>
      </p:grpSp>
      <p:sp>
        <p:nvSpPr>
          <p:cNvPr id="38" name="Rectangle 37"/>
          <p:cNvSpPr/>
          <p:nvPr/>
        </p:nvSpPr>
        <p:spPr>
          <a:xfrm>
            <a:off x="533400" y="3505200"/>
            <a:ext cx="8001000" cy="1200329"/>
          </a:xfrm>
          <a:prstGeom prst="rect">
            <a:avLst/>
          </a:prstGeom>
        </p:spPr>
        <p:txBody>
          <a:bodyPr wrap="square">
            <a:spAutoFit/>
          </a:bodyPr>
          <a:lstStyle/>
          <a:p>
            <a:pPr algn="just"/>
            <a:r>
              <a:rPr lang="en-US" dirty="0" smtClean="0"/>
              <a:t>The horizontal shaft AD is attached to a fixed base at D and is subjected to the torque 250 N-m at A and 2500 N-m at C which is 0.6 m from D. Knowing that the entire shaft is made of steel for which G = 77 </a:t>
            </a:r>
            <a:r>
              <a:rPr lang="en-US" dirty="0" err="1" smtClean="0"/>
              <a:t>GPa</a:t>
            </a:r>
            <a:r>
              <a:rPr lang="en-US" dirty="0" smtClean="0"/>
              <a:t>. Determine the angle of twist at end A. </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cstate="print"/>
          <a:srcRect/>
          <a:stretch>
            <a:fillRect/>
          </a:stretch>
        </p:blipFill>
        <p:spPr bwMode="auto">
          <a:xfrm>
            <a:off x="5200650" y="0"/>
            <a:ext cx="3943350" cy="3543300"/>
          </a:xfrm>
          <a:prstGeom prst="rect">
            <a:avLst/>
          </a:prstGeom>
          <a:noFill/>
          <a:ln w="9525">
            <a:noFill/>
            <a:miter lim="800000"/>
            <a:headEnd/>
            <a:tailEnd/>
          </a:ln>
        </p:spPr>
      </p:pic>
      <p:sp>
        <p:nvSpPr>
          <p:cNvPr id="3" name="Rectangle 2"/>
          <p:cNvSpPr/>
          <p:nvPr/>
        </p:nvSpPr>
        <p:spPr>
          <a:xfrm>
            <a:off x="304800" y="3635276"/>
            <a:ext cx="8610600" cy="2308324"/>
          </a:xfrm>
          <a:prstGeom prst="rect">
            <a:avLst/>
          </a:prstGeom>
        </p:spPr>
        <p:txBody>
          <a:bodyPr wrap="square">
            <a:spAutoFit/>
          </a:bodyPr>
          <a:lstStyle/>
          <a:p>
            <a:pPr algn="just"/>
            <a:r>
              <a:rPr lang="en-US" dirty="0" smtClean="0"/>
              <a:t>While removing a wheel to change a tire, a driver applies forces P=25 lb at the ends of two of the arms of a lug wrench (see figure). The wrench is made of steel with shear modulus of elasticity G=11.4x10</a:t>
            </a:r>
            <a:r>
              <a:rPr lang="en-US" baseline="30000" dirty="0" smtClean="0"/>
              <a:t>6</a:t>
            </a:r>
            <a:r>
              <a:rPr lang="en-US" dirty="0" smtClean="0"/>
              <a:t> psi. Each arm of the wrench is 9.0 in. long and has a solid circular cross section of diameter d=0.5 in.</a:t>
            </a:r>
          </a:p>
          <a:p>
            <a:pPr algn="just"/>
            <a:r>
              <a:rPr lang="en-US" dirty="0" smtClean="0"/>
              <a:t>(a) Determine the maximum shear stress in the arm that is turning the lug nut (arm A).</a:t>
            </a:r>
          </a:p>
          <a:p>
            <a:pPr algn="just"/>
            <a:r>
              <a:rPr lang="en-US" dirty="0" smtClean="0"/>
              <a:t>(b) Determine the angle of twist (in degrees) of this same arm.</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1165</TotalTime>
  <Words>774</Words>
  <Application>Microsoft Office PowerPoint</Application>
  <PresentationFormat>On-screen Show (4:3)</PresentationFormat>
  <Paragraphs>67</Paragraphs>
  <Slides>27</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7" baseType="lpstr">
      <vt:lpstr>Arial</vt:lpstr>
      <vt:lpstr>Calibri</vt:lpstr>
      <vt:lpstr>Comic Sans MS</vt:lpstr>
      <vt:lpstr>Lucida Sans Unicode</vt:lpstr>
      <vt:lpstr>Times New Roman</vt:lpstr>
      <vt:lpstr>Verdana</vt:lpstr>
      <vt:lpstr>Wingdings 2</vt:lpstr>
      <vt:lpstr>Wingdings 3</vt:lpstr>
      <vt:lpstr>Concourse</vt:lpstr>
      <vt:lpstr>Equation</vt:lpstr>
      <vt:lpstr>TORSION</vt:lpstr>
      <vt:lpstr>Torsional Loads on Circular Shafts</vt:lpstr>
      <vt:lpstr>Geometry of deformation of a twisted circular shaft</vt:lpstr>
      <vt:lpstr>PowerPoint Presentation</vt:lpstr>
      <vt:lpstr>PowerPoint Presentation</vt:lpstr>
      <vt:lpstr>PowerPoint Presentation</vt:lpstr>
      <vt:lpstr>PowerPoint Presentation</vt:lpstr>
      <vt:lpstr>Dilational deformation</vt:lpstr>
      <vt:lpstr>PowerPoint Presentation</vt:lpstr>
      <vt:lpstr>Stresses obtained from stress strain relations</vt:lpstr>
      <vt:lpstr>Equilibrium requirements</vt:lpstr>
      <vt:lpstr>PowerPoint Presentation</vt:lpstr>
      <vt:lpstr>Torsion of elastic hollow circular shafts</vt:lpstr>
      <vt:lpstr>Problem</vt:lpstr>
      <vt:lpstr>Problem</vt:lpstr>
      <vt:lpstr>Stress analysis in torsion: Combined Stresses</vt:lpstr>
      <vt:lpstr>Stress analysis in torsion: Combined Stresses</vt:lpstr>
      <vt:lpstr>Strain energy due to torsion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TORSION</dc:title>
  <dc:creator>IPCVostro</dc:creator>
  <cp:lastModifiedBy>DELL</cp:lastModifiedBy>
  <cp:revision>105</cp:revision>
  <dcterms:created xsi:type="dcterms:W3CDTF">2011-10-08T04:49:14Z</dcterms:created>
  <dcterms:modified xsi:type="dcterms:W3CDTF">2023-11-02T05:44:23Z</dcterms:modified>
</cp:coreProperties>
</file>