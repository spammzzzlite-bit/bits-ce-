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80" r:id="rId22"/>
    <p:sldId id="281" r:id="rId23"/>
    <p:sldId id="275" r:id="rId24"/>
    <p:sldId id="277" r:id="rId25"/>
    <p:sldId id="278" r:id="rId26"/>
    <p:sldId id="283" r:id="rId27"/>
    <p:sldId id="279" r:id="rId28"/>
    <p:sldId id="282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6314F4E5-97BE-4786-B23A-4A4F8117131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224BE20-B633-4A21-840D-80C7EA339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Stresses due to Bending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7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9994" y="2819400"/>
            <a:ext cx="8786971" cy="279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256506"/>
          </a:xfrm>
        </p:spPr>
        <p:txBody>
          <a:bodyPr>
            <a:noAutofit/>
          </a:bodyPr>
          <a:lstStyle/>
          <a:p>
            <a:r>
              <a:rPr lang="en-US" sz="3600" dirty="0" smtClean="0"/>
              <a:t>Geometry of deformation of a symmetrical beam subjected to pure bending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6255" y="1981200"/>
            <a:ext cx="87503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26208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Material properties are constant along the length of the beam and symmetrical with respect to the plane of loading</a:t>
            </a:r>
          </a:p>
          <a:p>
            <a:pPr algn="just"/>
            <a:r>
              <a:rPr lang="en-US" sz="2400" dirty="0" smtClean="0"/>
              <a:t>Beam transmits a bending moment which is constant along its length (pure bending)</a:t>
            </a:r>
          </a:p>
          <a:p>
            <a:pPr algn="just"/>
            <a:r>
              <a:rPr lang="en-US" sz="2400" dirty="0" smtClean="0"/>
              <a:t>Originally straight beam will deform into a curved shape.</a:t>
            </a:r>
          </a:p>
          <a:p>
            <a:pPr algn="just"/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3145106"/>
            <a:ext cx="3314700" cy="3712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3276600"/>
            <a:ext cx="5029201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 dirty="0" smtClean="0"/>
              <a:t>Curvature: </a:t>
            </a:r>
            <a:endParaRPr lang="en-US" b="1" dirty="0" smtClean="0"/>
          </a:p>
          <a:p>
            <a:r>
              <a:rPr lang="en-US" dirty="0" smtClean="0"/>
              <a:t>The rate of change of slope angle of the curve with respect to the distance along the curve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724400"/>
            <a:ext cx="5286375" cy="1107356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0"/>
            <a:ext cx="5257800" cy="685391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-14909"/>
            <a:ext cx="5257800" cy="6872909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4 - </a:t>
            </a:r>
            <a:fld id="{C7B1739C-76D6-4BC7-B23B-058D282C5AC4}" type="slidenum">
              <a:rPr lang="en-US"/>
              <a:pPr/>
              <a:t>7</a:t>
            </a:fld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75" y="346075"/>
            <a:ext cx="8683625" cy="457200"/>
          </a:xfrm>
          <a:ln/>
        </p:spPr>
        <p:txBody>
          <a:bodyPr>
            <a:normAutofit fontScale="90000"/>
          </a:bodyPr>
          <a:lstStyle/>
          <a:p>
            <a:r>
              <a:rPr lang="en-US"/>
              <a:t>Bending Deformations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57200" y="887413"/>
            <a:ext cx="8686800" cy="5513387"/>
            <a:chOff x="288" y="559"/>
            <a:chExt cx="5472" cy="3473"/>
          </a:xfrm>
        </p:grpSpPr>
        <p:pic>
          <p:nvPicPr>
            <p:cNvPr id="5126" name="Picture 6" descr="C:\DOCUME~1\WALTOL~1\LOCALS~1\Temp\\msotw9_temp0.bmp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88" y="576"/>
              <a:ext cx="1846" cy="3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127" name="Text Box 7"/>
            <p:cNvSpPr txBox="1">
              <a:spLocks noChangeArrowheads="1"/>
            </p:cNvSpPr>
            <p:nvPr/>
          </p:nvSpPr>
          <p:spPr bwMode="auto">
            <a:xfrm>
              <a:off x="2177" y="559"/>
              <a:ext cx="3583" cy="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27013" indent="-227013"/>
              <a:r>
                <a:rPr lang="en-US"/>
                <a:t>Beam with a plane of symmetry in pure bending:</a:t>
              </a:r>
            </a:p>
            <a:p>
              <a:pPr marL="227013" indent="-227013">
                <a:spcBef>
                  <a:spcPct val="30000"/>
                </a:spcBef>
                <a:buFontTx/>
                <a:buChar char="•"/>
              </a:pPr>
              <a:r>
                <a:rPr lang="en-US" sz="2000"/>
                <a:t>member remains symmetric</a:t>
              </a:r>
            </a:p>
          </p:txBody>
        </p:sp>
      </p:grp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3455988" y="2208213"/>
            <a:ext cx="5688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7013" indent="-227013">
              <a:spcBef>
                <a:spcPct val="30000"/>
              </a:spcBef>
              <a:buFontTx/>
              <a:buChar char="•"/>
            </a:pPr>
            <a:r>
              <a:rPr lang="en-US" sz="2000"/>
              <a:t>bends uniformly to form a circular arc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3455988" y="2706688"/>
            <a:ext cx="54387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7013" indent="-227013">
              <a:spcBef>
                <a:spcPct val="30000"/>
              </a:spcBef>
              <a:buFontTx/>
              <a:buChar char="•"/>
            </a:pPr>
            <a:r>
              <a:rPr lang="en-US" sz="2000"/>
              <a:t>cross-sectional plane passes through arc center</a:t>
            </a:r>
            <a:r>
              <a:rPr lang="en-US" sz="2000" i="1"/>
              <a:t> </a:t>
            </a:r>
            <a:r>
              <a:rPr lang="en-US" sz="2000"/>
              <a:t>and remains planar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3455988" y="3511550"/>
            <a:ext cx="56880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7013" indent="-227013">
              <a:spcBef>
                <a:spcPct val="30000"/>
              </a:spcBef>
              <a:buFontTx/>
              <a:buChar char="•"/>
            </a:pPr>
            <a:r>
              <a:rPr lang="en-US" sz="2000"/>
              <a:t>length of top decreases and length of bottom increases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3455988" y="4314825"/>
            <a:ext cx="5688012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7013" indent="-227013">
              <a:spcBef>
                <a:spcPct val="30000"/>
              </a:spcBef>
              <a:buFontTx/>
              <a:buChar char="•"/>
            </a:pPr>
            <a:r>
              <a:rPr lang="en-US" sz="2000"/>
              <a:t>a </a:t>
            </a:r>
            <a:r>
              <a:rPr lang="en-US" sz="2000" i="1"/>
              <a:t>neutral surface</a:t>
            </a:r>
            <a:r>
              <a:rPr lang="en-US" sz="2000"/>
              <a:t> must exist that is parallel to the upper and lower surfaces and for which the length does not change</a:t>
            </a:r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3455988" y="5424488"/>
            <a:ext cx="5688012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7013" indent="-227013">
              <a:spcBef>
                <a:spcPct val="50000"/>
              </a:spcBef>
              <a:buFontTx/>
              <a:buChar char="•"/>
            </a:pPr>
            <a:r>
              <a:rPr lang="en-US" sz="2000"/>
              <a:t>stresses and strains are negative (compressive) above the neutral plane and positive (tension) below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autoUpdateAnimBg="0"/>
      <p:bldP spid="5129" grpId="0" autoUpdateAnimBg="0"/>
      <p:bldP spid="5130" grpId="0" autoUpdateAnimBg="0"/>
      <p:bldP spid="5131" grpId="0" autoUpdateAnimBg="0"/>
      <p:bldP spid="513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Stresses obtained from stress-strain relations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2133600"/>
            <a:ext cx="559117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75506"/>
          </a:xfrm>
        </p:spPr>
        <p:txBody>
          <a:bodyPr/>
          <a:lstStyle/>
          <a:p>
            <a:r>
              <a:rPr lang="en-US" dirty="0" smtClean="0"/>
              <a:t>Equilibrium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159408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Equilibrium requires that the resultant of the stress distribution over the cross section of the beam should equal the bending moment M</a:t>
            </a:r>
            <a:r>
              <a:rPr lang="en-US" sz="2400" baseline="-25000" dirty="0" smtClean="0"/>
              <a:t>b</a:t>
            </a:r>
            <a:endParaRPr lang="en-US" sz="2400" baseline="-25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7282" y="2514600"/>
            <a:ext cx="9161282" cy="3557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828800"/>
            <a:ext cx="9124463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3270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Stress and deformation in symmetrical elastic beams subjected to pure bending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09663" y="1912812"/>
            <a:ext cx="6586537" cy="448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690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19600"/>
            <a:ext cx="8229600" cy="2035208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dirty="0" smtClean="0"/>
              <a:t>The moment of cross sectional area about the neutral surface must be zero.</a:t>
            </a:r>
          </a:p>
          <a:p>
            <a:pPr algn="just"/>
            <a:r>
              <a:rPr lang="en-US" i="1" dirty="0" smtClean="0">
                <a:solidFill>
                  <a:srgbClr val="FF0000"/>
                </a:solidFill>
              </a:rPr>
              <a:t>The neutral surface must pass through the </a:t>
            </a:r>
            <a:r>
              <a:rPr lang="en-US" i="1" dirty="0" err="1" smtClean="0">
                <a:solidFill>
                  <a:srgbClr val="FF0000"/>
                </a:solidFill>
              </a:rPr>
              <a:t>centroid</a:t>
            </a:r>
            <a:r>
              <a:rPr lang="en-US" i="1" dirty="0" smtClean="0">
                <a:solidFill>
                  <a:srgbClr val="FF0000"/>
                </a:solidFill>
              </a:rPr>
              <a:t> of the cross-sectional area</a:t>
            </a:r>
            <a:endParaRPr lang="en-IN" i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19400" y="990600"/>
            <a:ext cx="29718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09800" y="1752600"/>
            <a:ext cx="4191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88" y="2905125"/>
            <a:ext cx="842962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57070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9008"/>
            <a:ext cx="8229600" cy="479392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r>
              <a:rPr lang="en-US" sz="2400" dirty="0" smtClean="0"/>
              <a:t>Cross-section </a:t>
            </a:r>
            <a:r>
              <a:rPr lang="en-US" sz="2400" dirty="0" err="1" smtClean="0"/>
              <a:t>w.r.t</a:t>
            </a:r>
            <a:r>
              <a:rPr lang="en-US" sz="2400" dirty="0" smtClean="0"/>
              <a:t>. the </a:t>
            </a:r>
            <a:r>
              <a:rPr lang="en-US" sz="2400" dirty="0" err="1" smtClean="0"/>
              <a:t>xy</a:t>
            </a:r>
            <a:r>
              <a:rPr lang="en-US" sz="2400" dirty="0" smtClean="0"/>
              <a:t> plane symmetrical</a:t>
            </a:r>
            <a:endParaRPr lang="en-IN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990600"/>
            <a:ext cx="7262811" cy="95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4400" y="2743200"/>
            <a:ext cx="7367587" cy="91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52801" y="4256902"/>
            <a:ext cx="2819400" cy="2459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20904" y="1"/>
            <a:ext cx="4284696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48200"/>
            <a:ext cx="8229600" cy="180660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Find the maximum tensile and compressive bending stresses for the symmetrical T-beam, under the action of the constant bending moment M</a:t>
            </a:r>
            <a:r>
              <a:rPr lang="en-US" baseline="-25000" dirty="0" smtClean="0"/>
              <a:t>b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914400"/>
            <a:ext cx="356949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95800"/>
            <a:ext cx="8229600" cy="1959008"/>
          </a:xfrm>
        </p:spPr>
        <p:txBody>
          <a:bodyPr/>
          <a:lstStyle/>
          <a:p>
            <a:pPr algn="just"/>
            <a:r>
              <a:rPr lang="en-US" dirty="0" smtClean="0"/>
              <a:t>Calculate the moment of inertia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zz</a:t>
            </a:r>
            <a:r>
              <a:rPr lang="en-US" i="1" dirty="0" smtClean="0"/>
              <a:t> </a:t>
            </a:r>
            <a:r>
              <a:rPr lang="en-US" dirty="0" smtClean="0"/>
              <a:t>for the beam cross section illustrated.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0" y="152400"/>
            <a:ext cx="4090987" cy="413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2667000"/>
            <a:ext cx="9144000" cy="2818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problem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48" y="2614613"/>
            <a:ext cx="9102821" cy="348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Stresses in symmetrical elastic beams transmitting both shear force and bending moment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2586039"/>
            <a:ext cx="9144095" cy="3890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5512"/>
          <a:stretch>
            <a:fillRect/>
          </a:stretch>
        </p:blipFill>
        <p:spPr bwMode="auto">
          <a:xfrm>
            <a:off x="1219200" y="76200"/>
            <a:ext cx="6781800" cy="3620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657600"/>
            <a:ext cx="7315200" cy="1018992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4800600"/>
            <a:ext cx="5657850" cy="1827714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7200"/>
            <a:ext cx="9144000" cy="153162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1" y="2286001"/>
            <a:ext cx="1904999" cy="10322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4038600" y="2209800"/>
            <a:ext cx="228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80855" y="2743200"/>
            <a:ext cx="2957945" cy="1109229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29000" y="4191000"/>
            <a:ext cx="1828800" cy="17212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cxnSp>
        <p:nvCxnSpPr>
          <p:cNvPr id="10" name="Straight Connector 9"/>
          <p:cNvCxnSpPr/>
          <p:nvPr/>
        </p:nvCxnSpPr>
        <p:spPr>
          <a:xfrm>
            <a:off x="381000" y="4038600"/>
            <a:ext cx="838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4953000"/>
            <a:ext cx="153279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Introducing 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2362200" y="4953000"/>
            <a:ext cx="838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77701"/>
            <a:ext cx="1676400" cy="1065299"/>
          </a:xfrm>
          <a:prstGeom prst="rect">
            <a:avLst/>
          </a:prstGeom>
          <a:noFill/>
          <a:ln w="28575">
            <a:solidFill>
              <a:schemeClr val="accent3"/>
            </a:solidFill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95400"/>
            <a:ext cx="9144000" cy="661162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67025" y="2209800"/>
            <a:ext cx="2924175" cy="1076325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0" y="3505200"/>
            <a:ext cx="2790825" cy="10953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grpSp>
        <p:nvGrpSpPr>
          <p:cNvPr id="11" name="Group 10"/>
          <p:cNvGrpSpPr/>
          <p:nvPr/>
        </p:nvGrpSpPr>
        <p:grpSpPr>
          <a:xfrm>
            <a:off x="1" y="5089599"/>
            <a:ext cx="9144000" cy="1365986"/>
            <a:chOff x="1" y="5089599"/>
            <a:chExt cx="9144000" cy="1365986"/>
          </a:xfrm>
        </p:grpSpPr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" y="5089599"/>
              <a:ext cx="9144000" cy="1365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Freeform 9"/>
            <p:cNvSpPr/>
            <p:nvPr/>
          </p:nvSpPr>
          <p:spPr>
            <a:xfrm>
              <a:off x="29029" y="5457371"/>
              <a:ext cx="9071428" cy="986972"/>
            </a:xfrm>
            <a:custGeom>
              <a:avLst/>
              <a:gdLst>
                <a:gd name="connsiteX0" fmla="*/ 3367314 w 9071428"/>
                <a:gd name="connsiteY0" fmla="*/ 43543 h 986972"/>
                <a:gd name="connsiteX1" fmla="*/ 3367314 w 9071428"/>
                <a:gd name="connsiteY1" fmla="*/ 43543 h 986972"/>
                <a:gd name="connsiteX2" fmla="*/ 3381828 w 9071428"/>
                <a:gd name="connsiteY2" fmla="*/ 174172 h 986972"/>
                <a:gd name="connsiteX3" fmla="*/ 3367314 w 9071428"/>
                <a:gd name="connsiteY3" fmla="*/ 261258 h 986972"/>
                <a:gd name="connsiteX4" fmla="*/ 3381828 w 9071428"/>
                <a:gd name="connsiteY4" fmla="*/ 333829 h 986972"/>
                <a:gd name="connsiteX5" fmla="*/ 14514 w 9071428"/>
                <a:gd name="connsiteY5" fmla="*/ 391886 h 986972"/>
                <a:gd name="connsiteX6" fmla="*/ 0 w 9071428"/>
                <a:gd name="connsiteY6" fmla="*/ 957943 h 986972"/>
                <a:gd name="connsiteX7" fmla="*/ 1233714 w 9071428"/>
                <a:gd name="connsiteY7" fmla="*/ 986972 h 986972"/>
                <a:gd name="connsiteX8" fmla="*/ 1233714 w 9071428"/>
                <a:gd name="connsiteY8" fmla="*/ 711200 h 986972"/>
                <a:gd name="connsiteX9" fmla="*/ 9071428 w 9071428"/>
                <a:gd name="connsiteY9" fmla="*/ 638629 h 986972"/>
                <a:gd name="connsiteX10" fmla="*/ 9071428 w 9071428"/>
                <a:gd name="connsiteY10" fmla="*/ 0 h 986972"/>
                <a:gd name="connsiteX11" fmla="*/ 3367314 w 9071428"/>
                <a:gd name="connsiteY11" fmla="*/ 43543 h 98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71428" h="986972">
                  <a:moveTo>
                    <a:pt x="3367314" y="43543"/>
                  </a:moveTo>
                  <a:lnTo>
                    <a:pt x="3367314" y="43543"/>
                  </a:lnTo>
                  <a:cubicBezTo>
                    <a:pt x="3372152" y="87086"/>
                    <a:pt x="3381828" y="130361"/>
                    <a:pt x="3381828" y="174172"/>
                  </a:cubicBezTo>
                  <a:cubicBezTo>
                    <a:pt x="3381828" y="203601"/>
                    <a:pt x="3367314" y="231829"/>
                    <a:pt x="3367314" y="261258"/>
                  </a:cubicBezTo>
                  <a:cubicBezTo>
                    <a:pt x="3367314" y="285927"/>
                    <a:pt x="3381828" y="333829"/>
                    <a:pt x="3381828" y="333829"/>
                  </a:cubicBezTo>
                  <a:lnTo>
                    <a:pt x="14514" y="391886"/>
                  </a:lnTo>
                  <a:lnTo>
                    <a:pt x="0" y="957943"/>
                  </a:lnTo>
                  <a:lnTo>
                    <a:pt x="1233714" y="986972"/>
                  </a:lnTo>
                  <a:lnTo>
                    <a:pt x="1233714" y="711200"/>
                  </a:lnTo>
                  <a:lnTo>
                    <a:pt x="9071428" y="638629"/>
                  </a:lnTo>
                  <a:lnTo>
                    <a:pt x="9071428" y="0"/>
                  </a:lnTo>
                  <a:lnTo>
                    <a:pt x="3367314" y="43543"/>
                  </a:ln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4488"/>
          <a:stretch>
            <a:fillRect/>
          </a:stretch>
        </p:blipFill>
        <p:spPr bwMode="auto">
          <a:xfrm>
            <a:off x="2057400" y="1828800"/>
            <a:ext cx="4657725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46192"/>
          </a:xfrm>
        </p:spPr>
        <p:txBody>
          <a:bodyPr/>
          <a:lstStyle/>
          <a:p>
            <a:pPr algn="just"/>
            <a:r>
              <a:rPr lang="en-US" dirty="0" smtClean="0"/>
              <a:t>Find the ratio of the maximum shear stress (</a:t>
            </a:r>
            <a:r>
              <a:rPr lang="en-US" dirty="0" smtClean="0">
                <a:sym typeface="Symbol"/>
              </a:rPr>
              <a:t></a:t>
            </a:r>
            <a:r>
              <a:rPr lang="en-US" baseline="-25000" dirty="0" err="1" smtClean="0">
                <a:sym typeface="Symbol"/>
              </a:rPr>
              <a:t>xy</a:t>
            </a:r>
            <a:r>
              <a:rPr lang="en-US" dirty="0" smtClean="0"/>
              <a:t>)</a:t>
            </a:r>
            <a:r>
              <a:rPr lang="en-US" baseline="-25000" dirty="0" smtClean="0"/>
              <a:t>max</a:t>
            </a:r>
            <a:r>
              <a:rPr lang="en-US" dirty="0" smtClean="0"/>
              <a:t> to the maximum bending stress (</a:t>
            </a:r>
            <a:r>
              <a:rPr lang="en-US" dirty="0" smtClean="0">
                <a:sym typeface="Symbol"/>
              </a:rPr>
              <a:t></a:t>
            </a:r>
            <a:r>
              <a:rPr lang="en-US" baseline="-25000" dirty="0" smtClean="0">
                <a:sym typeface="Symbol"/>
              </a:rPr>
              <a:t>x</a:t>
            </a:r>
            <a:r>
              <a:rPr lang="en-US" dirty="0" smtClean="0"/>
              <a:t>)</a:t>
            </a:r>
            <a:r>
              <a:rPr lang="en-US" baseline="-25000" dirty="0" smtClean="0"/>
              <a:t>max</a:t>
            </a:r>
            <a:r>
              <a:rPr lang="en-US" dirty="0" smtClean="0"/>
              <a:t>.</a:t>
            </a:r>
            <a:endParaRPr lang="en-IN" baseline="-25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649" y="3426834"/>
            <a:ext cx="6615751" cy="343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52600"/>
            <a:ext cx="9131163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860392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/>
              <a:t>For the beam and loading shown, consider section </a:t>
            </a:r>
            <a:r>
              <a:rPr lang="en-US" sz="2000" i="1" dirty="0" smtClean="0"/>
              <a:t>n-n </a:t>
            </a:r>
            <a:r>
              <a:rPr lang="en-US" sz="2000" dirty="0" smtClean="0"/>
              <a:t>and determine the shearing stress at (a) point </a:t>
            </a:r>
            <a:r>
              <a:rPr lang="en-US" sz="2000" i="1" dirty="0" smtClean="0"/>
              <a:t>a</a:t>
            </a:r>
            <a:r>
              <a:rPr lang="en-US" sz="2000" dirty="0" smtClean="0"/>
              <a:t>, (b) point b</a:t>
            </a:r>
            <a:r>
              <a:rPr lang="en-US" sz="2000" i="1" dirty="0" smtClean="0"/>
              <a:t>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3000" y="2971800"/>
            <a:ext cx="688871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890535"/>
            <a:ext cx="9144000" cy="4891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1774792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dirty="0" smtClean="0"/>
              <a:t>A simply supported beam having I- cross section, with dimensions shown in Fig., have a span of 5 m. Calculate the intensity of uniformly distributed load which the beam can carry, if maximum permissible bending stresses in compression and tension are 30 N/mm</a:t>
            </a:r>
            <a:r>
              <a:rPr lang="en-US" baseline="30000" dirty="0" smtClean="0"/>
              <a:t>2</a:t>
            </a:r>
            <a:r>
              <a:rPr lang="en-US" dirty="0" smtClean="0"/>
              <a:t> and 42 N/mm</a:t>
            </a:r>
            <a:r>
              <a:rPr lang="en-US" baseline="30000" dirty="0" smtClean="0"/>
              <a:t>2</a:t>
            </a:r>
            <a:r>
              <a:rPr lang="en-US" dirty="0" smtClean="0"/>
              <a:t>, respectively, and maximum permissible shear stress is 20 N/mm</a:t>
            </a:r>
            <a:r>
              <a:rPr lang="en-US" baseline="30000" dirty="0" smtClean="0"/>
              <a:t>2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6" name="Picture 2" descr="Picture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8662" y="3503735"/>
            <a:ext cx="1963738" cy="2973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 descr="Picture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4038600"/>
            <a:ext cx="4978491" cy="1507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2308192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/>
              <a:t>The cross-section of a wooden beam is 8cm wide and 12cm deep with a semicircular groove of 2cm radius planned out in the centre of each side. Calculate the maximum stress in the section when simply supported on a span of 3m, loaded with a concentrated load of 450N at a distance of 1m from the left end and a uniform distributed load of 500N/m run over the whole span. </a:t>
            </a:r>
            <a:endParaRPr lang="en-US" dirty="0"/>
          </a:p>
        </p:txBody>
      </p:sp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227138" y="3673533"/>
            <a:ext cx="2646185" cy="2498668"/>
            <a:chOff x="2412" y="6225"/>
            <a:chExt cx="3303" cy="2751"/>
          </a:xfrm>
        </p:grpSpPr>
        <p:cxnSp>
          <p:nvCxnSpPr>
            <p:cNvPr id="3075" name="AutoShape 3"/>
            <p:cNvCxnSpPr>
              <a:cxnSpLocks noChangeShapeType="1"/>
            </p:cNvCxnSpPr>
            <p:nvPr/>
          </p:nvCxnSpPr>
          <p:spPr bwMode="auto">
            <a:xfrm>
              <a:off x="3391" y="6525"/>
              <a:ext cx="172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sp>
          <p:nvSpPr>
            <p:cNvPr id="3076" name="Oval 4"/>
            <p:cNvSpPr>
              <a:spLocks noChangeArrowheads="1"/>
            </p:cNvSpPr>
            <p:nvPr/>
          </p:nvSpPr>
          <p:spPr bwMode="auto">
            <a:xfrm>
              <a:off x="2739" y="7369"/>
              <a:ext cx="1205" cy="9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4496" y="7369"/>
              <a:ext cx="1205" cy="9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8" name="Rectangle 6"/>
            <p:cNvSpPr>
              <a:spLocks noChangeArrowheads="1"/>
            </p:cNvSpPr>
            <p:nvPr/>
          </p:nvSpPr>
          <p:spPr bwMode="auto">
            <a:xfrm>
              <a:off x="5120" y="7205"/>
              <a:ext cx="595" cy="163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9" name="Rectangle 7"/>
            <p:cNvSpPr>
              <a:spLocks noChangeArrowheads="1"/>
            </p:cNvSpPr>
            <p:nvPr/>
          </p:nvSpPr>
          <p:spPr bwMode="auto">
            <a:xfrm>
              <a:off x="2640" y="7052"/>
              <a:ext cx="737" cy="163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080" name="Group 8"/>
            <p:cNvGrpSpPr>
              <a:grpSpLocks/>
            </p:cNvGrpSpPr>
            <p:nvPr/>
          </p:nvGrpSpPr>
          <p:grpSpPr bwMode="auto">
            <a:xfrm>
              <a:off x="3249" y="6735"/>
              <a:ext cx="1987" cy="2240"/>
              <a:chOff x="3249" y="6735"/>
              <a:chExt cx="1987" cy="2240"/>
            </a:xfrm>
          </p:grpSpPr>
          <p:sp>
            <p:nvSpPr>
              <p:cNvPr id="3081" name="Rectangle 9"/>
              <p:cNvSpPr>
                <a:spLocks noChangeArrowheads="1"/>
              </p:cNvSpPr>
              <p:nvPr/>
            </p:nvSpPr>
            <p:spPr bwMode="auto">
              <a:xfrm>
                <a:off x="3377" y="6735"/>
                <a:ext cx="1729" cy="224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2" name="Rectangle 10"/>
              <p:cNvSpPr>
                <a:spLocks noChangeArrowheads="1"/>
              </p:cNvSpPr>
              <p:nvPr/>
            </p:nvSpPr>
            <p:spPr bwMode="auto">
              <a:xfrm>
                <a:off x="3249" y="7369"/>
                <a:ext cx="142" cy="93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3" name="Rectangle 11"/>
              <p:cNvSpPr>
                <a:spLocks noChangeArrowheads="1"/>
              </p:cNvSpPr>
              <p:nvPr/>
            </p:nvSpPr>
            <p:spPr bwMode="auto">
              <a:xfrm>
                <a:off x="5094" y="7369"/>
                <a:ext cx="142" cy="93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3084" name="AutoShape 12"/>
            <p:cNvCxnSpPr>
              <a:cxnSpLocks noChangeShapeType="1"/>
            </p:cNvCxnSpPr>
            <p:nvPr/>
          </p:nvCxnSpPr>
          <p:spPr bwMode="auto">
            <a:xfrm>
              <a:off x="3045" y="6742"/>
              <a:ext cx="0" cy="22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3085" name="AutoShape 13"/>
            <p:cNvCxnSpPr>
              <a:cxnSpLocks noChangeShapeType="1"/>
            </p:cNvCxnSpPr>
            <p:nvPr/>
          </p:nvCxnSpPr>
          <p:spPr bwMode="auto">
            <a:xfrm>
              <a:off x="2829" y="6735"/>
              <a:ext cx="426" cy="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86" name="AutoShape 14"/>
            <p:cNvCxnSpPr>
              <a:cxnSpLocks noChangeShapeType="1"/>
            </p:cNvCxnSpPr>
            <p:nvPr/>
          </p:nvCxnSpPr>
          <p:spPr bwMode="auto">
            <a:xfrm flipH="1">
              <a:off x="2850" y="8975"/>
              <a:ext cx="39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87" name="AutoShape 15"/>
            <p:cNvCxnSpPr>
              <a:cxnSpLocks noChangeShapeType="1"/>
            </p:cNvCxnSpPr>
            <p:nvPr/>
          </p:nvCxnSpPr>
          <p:spPr bwMode="auto">
            <a:xfrm>
              <a:off x="3391" y="6390"/>
              <a:ext cx="0" cy="2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88" name="AutoShape 16"/>
            <p:cNvCxnSpPr>
              <a:cxnSpLocks noChangeShapeType="1"/>
            </p:cNvCxnSpPr>
            <p:nvPr/>
          </p:nvCxnSpPr>
          <p:spPr bwMode="auto">
            <a:xfrm>
              <a:off x="5101" y="6405"/>
              <a:ext cx="0" cy="2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089" name="Text Box 17"/>
            <p:cNvSpPr txBox="1">
              <a:spLocks noChangeArrowheads="1"/>
            </p:cNvSpPr>
            <p:nvPr/>
          </p:nvSpPr>
          <p:spPr bwMode="auto">
            <a:xfrm>
              <a:off x="3867" y="6225"/>
              <a:ext cx="935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8 cm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0" name="Text Box 18"/>
            <p:cNvSpPr txBox="1">
              <a:spLocks noChangeArrowheads="1"/>
            </p:cNvSpPr>
            <p:nvPr/>
          </p:nvSpPr>
          <p:spPr bwMode="auto">
            <a:xfrm>
              <a:off x="2412" y="7485"/>
              <a:ext cx="935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12 cm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091" name="AutoShape 19"/>
            <p:cNvCxnSpPr>
              <a:cxnSpLocks noChangeShapeType="1"/>
            </p:cNvCxnSpPr>
            <p:nvPr/>
          </p:nvCxnSpPr>
          <p:spPr bwMode="auto">
            <a:xfrm>
              <a:off x="3150" y="7770"/>
              <a:ext cx="235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</p:spPr>
        </p:cxnSp>
        <p:cxnSp>
          <p:nvCxnSpPr>
            <p:cNvPr id="3092" name="AutoShape 20"/>
            <p:cNvCxnSpPr>
              <a:cxnSpLocks noChangeShapeType="1"/>
            </p:cNvCxnSpPr>
            <p:nvPr/>
          </p:nvCxnSpPr>
          <p:spPr bwMode="auto">
            <a:xfrm flipV="1">
              <a:off x="3391" y="7485"/>
              <a:ext cx="314" cy="2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3093" name="Text Box 21"/>
            <p:cNvSpPr txBox="1">
              <a:spLocks noChangeArrowheads="1"/>
            </p:cNvSpPr>
            <p:nvPr/>
          </p:nvSpPr>
          <p:spPr bwMode="auto">
            <a:xfrm>
              <a:off x="3327" y="7665"/>
              <a:ext cx="935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2 cm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094" name="Group 22"/>
          <p:cNvGrpSpPr>
            <a:grpSpLocks/>
          </p:cNvGrpSpPr>
          <p:nvPr/>
        </p:nvGrpSpPr>
        <p:grpSpPr bwMode="auto">
          <a:xfrm>
            <a:off x="3990975" y="4038600"/>
            <a:ext cx="4314825" cy="1933575"/>
            <a:chOff x="6210" y="6052"/>
            <a:chExt cx="5385" cy="2131"/>
          </a:xfrm>
        </p:grpSpPr>
        <p:sp>
          <p:nvSpPr>
            <p:cNvPr id="3095" name="Rectangle 23"/>
            <p:cNvSpPr>
              <a:spLocks noChangeArrowheads="1"/>
            </p:cNvSpPr>
            <p:nvPr/>
          </p:nvSpPr>
          <p:spPr bwMode="auto">
            <a:xfrm>
              <a:off x="6540" y="7052"/>
              <a:ext cx="3960" cy="4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096" name="AutoShape 24"/>
            <p:cNvCxnSpPr>
              <a:cxnSpLocks noChangeShapeType="1"/>
            </p:cNvCxnSpPr>
            <p:nvPr/>
          </p:nvCxnSpPr>
          <p:spPr bwMode="auto">
            <a:xfrm>
              <a:off x="6930" y="7052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097" name="AutoShape 25"/>
            <p:cNvCxnSpPr>
              <a:cxnSpLocks noChangeShapeType="1"/>
            </p:cNvCxnSpPr>
            <p:nvPr/>
          </p:nvCxnSpPr>
          <p:spPr bwMode="auto">
            <a:xfrm>
              <a:off x="7170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098" name="AutoShape 26"/>
            <p:cNvCxnSpPr>
              <a:cxnSpLocks noChangeShapeType="1"/>
            </p:cNvCxnSpPr>
            <p:nvPr/>
          </p:nvCxnSpPr>
          <p:spPr bwMode="auto">
            <a:xfrm>
              <a:off x="7440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099" name="AutoShape 27"/>
            <p:cNvCxnSpPr>
              <a:cxnSpLocks noChangeShapeType="1"/>
            </p:cNvCxnSpPr>
            <p:nvPr/>
          </p:nvCxnSpPr>
          <p:spPr bwMode="auto">
            <a:xfrm>
              <a:off x="7680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0" name="AutoShape 28"/>
            <p:cNvCxnSpPr>
              <a:cxnSpLocks noChangeShapeType="1"/>
            </p:cNvCxnSpPr>
            <p:nvPr/>
          </p:nvCxnSpPr>
          <p:spPr bwMode="auto">
            <a:xfrm>
              <a:off x="7920" y="7052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1" name="AutoShape 29"/>
            <p:cNvCxnSpPr>
              <a:cxnSpLocks noChangeShapeType="1"/>
            </p:cNvCxnSpPr>
            <p:nvPr/>
          </p:nvCxnSpPr>
          <p:spPr bwMode="auto">
            <a:xfrm>
              <a:off x="8160" y="7052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2" name="AutoShape 30"/>
            <p:cNvCxnSpPr>
              <a:cxnSpLocks noChangeShapeType="1"/>
            </p:cNvCxnSpPr>
            <p:nvPr/>
          </p:nvCxnSpPr>
          <p:spPr bwMode="auto">
            <a:xfrm>
              <a:off x="8430" y="7052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3" name="AutoShape 31"/>
            <p:cNvCxnSpPr>
              <a:cxnSpLocks noChangeShapeType="1"/>
            </p:cNvCxnSpPr>
            <p:nvPr/>
          </p:nvCxnSpPr>
          <p:spPr bwMode="auto">
            <a:xfrm>
              <a:off x="8670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4" name="AutoShape 32"/>
            <p:cNvCxnSpPr>
              <a:cxnSpLocks noChangeShapeType="1"/>
            </p:cNvCxnSpPr>
            <p:nvPr/>
          </p:nvCxnSpPr>
          <p:spPr bwMode="auto">
            <a:xfrm>
              <a:off x="8925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5" name="AutoShape 33"/>
            <p:cNvCxnSpPr>
              <a:cxnSpLocks noChangeShapeType="1"/>
            </p:cNvCxnSpPr>
            <p:nvPr/>
          </p:nvCxnSpPr>
          <p:spPr bwMode="auto">
            <a:xfrm>
              <a:off x="9165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6" name="AutoShape 34"/>
            <p:cNvCxnSpPr>
              <a:cxnSpLocks noChangeShapeType="1"/>
            </p:cNvCxnSpPr>
            <p:nvPr/>
          </p:nvCxnSpPr>
          <p:spPr bwMode="auto">
            <a:xfrm>
              <a:off x="9435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7" name="AutoShape 35"/>
            <p:cNvCxnSpPr>
              <a:cxnSpLocks noChangeShapeType="1"/>
            </p:cNvCxnSpPr>
            <p:nvPr/>
          </p:nvCxnSpPr>
          <p:spPr bwMode="auto">
            <a:xfrm>
              <a:off x="9675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8" name="AutoShape 36"/>
            <p:cNvCxnSpPr>
              <a:cxnSpLocks noChangeShapeType="1"/>
            </p:cNvCxnSpPr>
            <p:nvPr/>
          </p:nvCxnSpPr>
          <p:spPr bwMode="auto">
            <a:xfrm>
              <a:off x="9915" y="7052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9" name="AutoShape 37"/>
            <p:cNvCxnSpPr>
              <a:cxnSpLocks noChangeShapeType="1"/>
            </p:cNvCxnSpPr>
            <p:nvPr/>
          </p:nvCxnSpPr>
          <p:spPr bwMode="auto">
            <a:xfrm>
              <a:off x="10155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10" name="AutoShape 38"/>
            <p:cNvCxnSpPr>
              <a:cxnSpLocks noChangeShapeType="1"/>
            </p:cNvCxnSpPr>
            <p:nvPr/>
          </p:nvCxnSpPr>
          <p:spPr bwMode="auto">
            <a:xfrm>
              <a:off x="10500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11" name="AutoShape 39"/>
            <p:cNvCxnSpPr>
              <a:cxnSpLocks noChangeShapeType="1"/>
            </p:cNvCxnSpPr>
            <p:nvPr/>
          </p:nvCxnSpPr>
          <p:spPr bwMode="auto">
            <a:xfrm>
              <a:off x="6705" y="7067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3112" name="AutoShape 40"/>
            <p:cNvSpPr>
              <a:spLocks noChangeArrowheads="1"/>
            </p:cNvSpPr>
            <p:nvPr/>
          </p:nvSpPr>
          <p:spPr bwMode="auto">
            <a:xfrm>
              <a:off x="6390" y="7468"/>
              <a:ext cx="315" cy="482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3" name="Rectangle 41" descr="Light upward diagonal"/>
            <p:cNvSpPr>
              <a:spLocks noChangeArrowheads="1"/>
            </p:cNvSpPr>
            <p:nvPr/>
          </p:nvSpPr>
          <p:spPr bwMode="auto">
            <a:xfrm>
              <a:off x="6210" y="7950"/>
              <a:ext cx="720" cy="143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114" name="AutoShape 42"/>
            <p:cNvCxnSpPr>
              <a:cxnSpLocks noChangeShapeType="1"/>
            </p:cNvCxnSpPr>
            <p:nvPr/>
          </p:nvCxnSpPr>
          <p:spPr bwMode="auto">
            <a:xfrm>
              <a:off x="6210" y="7935"/>
              <a:ext cx="72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115" name="Rectangle 43" descr="Light upward diagonal"/>
            <p:cNvSpPr>
              <a:spLocks noChangeArrowheads="1"/>
            </p:cNvSpPr>
            <p:nvPr/>
          </p:nvSpPr>
          <p:spPr bwMode="auto">
            <a:xfrm>
              <a:off x="10110" y="8040"/>
              <a:ext cx="720" cy="143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116" name="AutoShape 44"/>
            <p:cNvCxnSpPr>
              <a:cxnSpLocks noChangeShapeType="1"/>
            </p:cNvCxnSpPr>
            <p:nvPr/>
          </p:nvCxnSpPr>
          <p:spPr bwMode="auto">
            <a:xfrm>
              <a:off x="10110" y="8025"/>
              <a:ext cx="72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117" name="AutoShape 45"/>
            <p:cNvSpPr>
              <a:spLocks noChangeArrowheads="1"/>
            </p:cNvSpPr>
            <p:nvPr/>
          </p:nvSpPr>
          <p:spPr bwMode="auto">
            <a:xfrm>
              <a:off x="10350" y="7468"/>
              <a:ext cx="315" cy="407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8" name="Oval 46"/>
            <p:cNvSpPr>
              <a:spLocks noChangeArrowheads="1"/>
            </p:cNvSpPr>
            <p:nvPr/>
          </p:nvSpPr>
          <p:spPr bwMode="auto">
            <a:xfrm>
              <a:off x="10365" y="7875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9" name="Oval 47"/>
            <p:cNvSpPr>
              <a:spLocks noChangeArrowheads="1"/>
            </p:cNvSpPr>
            <p:nvPr/>
          </p:nvSpPr>
          <p:spPr bwMode="auto">
            <a:xfrm>
              <a:off x="10530" y="789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120" name="AutoShape 48"/>
            <p:cNvCxnSpPr>
              <a:cxnSpLocks noChangeShapeType="1"/>
            </p:cNvCxnSpPr>
            <p:nvPr/>
          </p:nvCxnSpPr>
          <p:spPr bwMode="auto">
            <a:xfrm>
              <a:off x="7845" y="6390"/>
              <a:ext cx="0" cy="6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21" name="AutoShape 49"/>
            <p:cNvCxnSpPr>
              <a:cxnSpLocks noChangeShapeType="1"/>
            </p:cNvCxnSpPr>
            <p:nvPr/>
          </p:nvCxnSpPr>
          <p:spPr bwMode="auto">
            <a:xfrm>
              <a:off x="6540" y="6390"/>
              <a:ext cx="0" cy="3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22" name="AutoShape 50"/>
            <p:cNvCxnSpPr>
              <a:cxnSpLocks noChangeShapeType="1"/>
            </p:cNvCxnSpPr>
            <p:nvPr/>
          </p:nvCxnSpPr>
          <p:spPr bwMode="auto">
            <a:xfrm>
              <a:off x="10425" y="6525"/>
              <a:ext cx="0" cy="3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23" name="AutoShape 51"/>
            <p:cNvCxnSpPr>
              <a:cxnSpLocks noChangeShapeType="1"/>
            </p:cNvCxnSpPr>
            <p:nvPr/>
          </p:nvCxnSpPr>
          <p:spPr bwMode="auto">
            <a:xfrm>
              <a:off x="6540" y="6600"/>
              <a:ext cx="130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3124" name="AutoShape 52"/>
            <p:cNvCxnSpPr>
              <a:cxnSpLocks noChangeShapeType="1"/>
            </p:cNvCxnSpPr>
            <p:nvPr/>
          </p:nvCxnSpPr>
          <p:spPr bwMode="auto">
            <a:xfrm>
              <a:off x="7860" y="6600"/>
              <a:ext cx="256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</p:cxnSp>
        <p:sp>
          <p:nvSpPr>
            <p:cNvPr id="3125" name="Text Box 53"/>
            <p:cNvSpPr txBox="1">
              <a:spLocks noChangeArrowheads="1"/>
            </p:cNvSpPr>
            <p:nvPr/>
          </p:nvSpPr>
          <p:spPr bwMode="auto">
            <a:xfrm>
              <a:off x="7407" y="6052"/>
              <a:ext cx="935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450 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6" name="Text Box 54"/>
            <p:cNvSpPr txBox="1">
              <a:spLocks noChangeArrowheads="1"/>
            </p:cNvSpPr>
            <p:nvPr/>
          </p:nvSpPr>
          <p:spPr bwMode="auto">
            <a:xfrm>
              <a:off x="8472" y="6292"/>
              <a:ext cx="935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2 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7" name="Text Box 55"/>
            <p:cNvSpPr txBox="1">
              <a:spLocks noChangeArrowheads="1"/>
            </p:cNvSpPr>
            <p:nvPr/>
          </p:nvSpPr>
          <p:spPr bwMode="auto">
            <a:xfrm>
              <a:off x="6792" y="6292"/>
              <a:ext cx="935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1 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8" name="Text Box 56"/>
            <p:cNvSpPr txBox="1">
              <a:spLocks noChangeArrowheads="1"/>
            </p:cNvSpPr>
            <p:nvPr/>
          </p:nvSpPr>
          <p:spPr bwMode="auto">
            <a:xfrm>
              <a:off x="10497" y="6742"/>
              <a:ext cx="1098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500 N/m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129" name="AutoShape 57"/>
            <p:cNvCxnSpPr>
              <a:cxnSpLocks noChangeShapeType="1"/>
            </p:cNvCxnSpPr>
            <p:nvPr/>
          </p:nvCxnSpPr>
          <p:spPr bwMode="auto">
            <a:xfrm rot="10800000" flipV="1">
              <a:off x="10508" y="7037"/>
              <a:ext cx="549" cy="227"/>
            </a:xfrm>
            <a:prstGeom prst="bentConnector3">
              <a:avLst>
                <a:gd name="adj1" fmla="val 49907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130" name="AutoShape 58"/>
            <p:cNvCxnSpPr>
              <a:cxnSpLocks noChangeShapeType="1"/>
            </p:cNvCxnSpPr>
            <p:nvPr/>
          </p:nvCxnSpPr>
          <p:spPr bwMode="auto">
            <a:xfrm>
              <a:off x="10335" y="7052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31" name="AutoShape 59"/>
            <p:cNvCxnSpPr>
              <a:cxnSpLocks noChangeShapeType="1"/>
            </p:cNvCxnSpPr>
            <p:nvPr/>
          </p:nvCxnSpPr>
          <p:spPr bwMode="auto">
            <a:xfrm>
              <a:off x="6540" y="7082"/>
              <a:ext cx="0" cy="4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2536792"/>
          </a:xfrm>
        </p:spPr>
        <p:txBody>
          <a:bodyPr>
            <a:normAutofit fontScale="62500" lnSpcReduction="20000"/>
          </a:bodyPr>
          <a:lstStyle/>
          <a:p>
            <a:pPr algn="just">
              <a:spcAft>
                <a:spcPts val="600"/>
              </a:spcAft>
            </a:pPr>
            <a:r>
              <a:rPr lang="en-US" dirty="0" smtClean="0"/>
              <a:t>A beam with symmetrical “I” cross section has bending moments M</a:t>
            </a:r>
            <a:r>
              <a:rPr lang="en-US" baseline="-25000" dirty="0" smtClean="0"/>
              <a:t>b</a:t>
            </a:r>
            <a:r>
              <a:rPr lang="en-US" dirty="0" smtClean="0"/>
              <a:t> = 1.5 </a:t>
            </a:r>
            <a:r>
              <a:rPr lang="en-US" dirty="0" err="1" smtClean="0"/>
              <a:t>kN</a:t>
            </a:r>
            <a:r>
              <a:rPr lang="en-US" dirty="0" smtClean="0"/>
              <a:t>-m and shear force 5 </a:t>
            </a:r>
            <a:r>
              <a:rPr lang="en-US" dirty="0" err="1" smtClean="0"/>
              <a:t>kN</a:t>
            </a:r>
            <a:r>
              <a:rPr lang="en-US" dirty="0" smtClean="0"/>
              <a:t> at a particular cross section along the length of the beam. Given </a:t>
            </a:r>
            <a:r>
              <a:rPr lang="en-US" dirty="0" err="1" smtClean="0"/>
              <a:t>I</a:t>
            </a:r>
            <a:r>
              <a:rPr lang="en-US" baseline="-25000" dirty="0" err="1" smtClean="0"/>
              <a:t>zz</a:t>
            </a:r>
            <a:r>
              <a:rPr lang="en-US" dirty="0" smtClean="0"/>
              <a:t> = 2.164 x 10</a:t>
            </a:r>
            <a:r>
              <a:rPr lang="en-US" baseline="30000" dirty="0" smtClean="0"/>
              <a:t>7</a:t>
            </a:r>
            <a:r>
              <a:rPr lang="en-US" dirty="0" smtClean="0"/>
              <a:t> mm</a:t>
            </a:r>
            <a:r>
              <a:rPr lang="en-US" baseline="30000" dirty="0" smtClean="0"/>
              <a:t>4</a:t>
            </a:r>
            <a:r>
              <a:rPr lang="en-US" dirty="0" smtClean="0"/>
              <a:t>&amp; E = 210 </a:t>
            </a:r>
            <a:r>
              <a:rPr lang="en-US" dirty="0" err="1" smtClean="0"/>
              <a:t>GPa</a:t>
            </a:r>
            <a:r>
              <a:rPr lang="en-US" dirty="0" smtClean="0"/>
              <a:t>.</a:t>
            </a:r>
          </a:p>
          <a:p>
            <a:pPr lvl="1" algn="just">
              <a:spcAft>
                <a:spcPts val="600"/>
              </a:spcAft>
            </a:pPr>
            <a:r>
              <a:rPr lang="en-US" sz="2700" dirty="0" smtClean="0"/>
              <a:t>Show the non-zero stresses on a 3-D differential element in equilibrium at points A, B, C, D &amp; E on the cross section. Mark the coordinate axes shown in figure on each of these elements.                                                      </a:t>
            </a:r>
          </a:p>
          <a:p>
            <a:pPr lvl="1" algn="just">
              <a:spcAft>
                <a:spcPts val="600"/>
              </a:spcAft>
            </a:pPr>
            <a:r>
              <a:rPr lang="en-US" sz="2700" dirty="0" smtClean="0"/>
              <a:t>Calculate the magnitudes of these non-zero stresses. </a:t>
            </a:r>
            <a:endParaRPr lang="en-US" sz="2700" dirty="0"/>
          </a:p>
        </p:txBody>
      </p:sp>
      <p:grpSp>
        <p:nvGrpSpPr>
          <p:cNvPr id="4217" name="Group 121"/>
          <p:cNvGrpSpPr>
            <a:grpSpLocks/>
          </p:cNvGrpSpPr>
          <p:nvPr/>
        </p:nvGrpSpPr>
        <p:grpSpPr bwMode="auto">
          <a:xfrm>
            <a:off x="2438400" y="4267200"/>
            <a:ext cx="3659187" cy="2544762"/>
            <a:chOff x="6222" y="9156"/>
            <a:chExt cx="5763" cy="4006"/>
          </a:xfrm>
        </p:grpSpPr>
        <p:grpSp>
          <p:nvGrpSpPr>
            <p:cNvPr id="4218" name="Group 122"/>
            <p:cNvGrpSpPr>
              <a:grpSpLocks/>
            </p:cNvGrpSpPr>
            <p:nvPr/>
          </p:nvGrpSpPr>
          <p:grpSpPr bwMode="auto">
            <a:xfrm>
              <a:off x="6222" y="9156"/>
              <a:ext cx="5763" cy="4006"/>
              <a:chOff x="6222" y="9156"/>
              <a:chExt cx="5763" cy="4006"/>
            </a:xfrm>
          </p:grpSpPr>
          <p:cxnSp>
            <p:nvCxnSpPr>
              <p:cNvPr id="4219" name="AutoShape 123"/>
              <p:cNvCxnSpPr>
                <a:cxnSpLocks noChangeShapeType="1"/>
              </p:cNvCxnSpPr>
              <p:nvPr/>
            </p:nvCxnSpPr>
            <p:spPr bwMode="auto">
              <a:xfrm>
                <a:off x="6855" y="11857"/>
                <a:ext cx="15" cy="52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4220" name="AutoShape 124"/>
              <p:cNvCxnSpPr>
                <a:cxnSpLocks noChangeShapeType="1"/>
              </p:cNvCxnSpPr>
              <p:nvPr/>
            </p:nvCxnSpPr>
            <p:spPr bwMode="auto">
              <a:xfrm>
                <a:off x="6600" y="9202"/>
                <a:ext cx="33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4221" name="AutoShape 125"/>
              <p:cNvCxnSpPr>
                <a:cxnSpLocks noChangeShapeType="1"/>
              </p:cNvCxnSpPr>
              <p:nvPr/>
            </p:nvCxnSpPr>
            <p:spPr bwMode="auto">
              <a:xfrm>
                <a:off x="6615" y="9727"/>
                <a:ext cx="33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4222" name="AutoShape 126"/>
              <p:cNvCxnSpPr>
                <a:cxnSpLocks noChangeShapeType="1"/>
              </p:cNvCxnSpPr>
              <p:nvPr/>
            </p:nvCxnSpPr>
            <p:spPr bwMode="auto">
              <a:xfrm>
                <a:off x="6780" y="9217"/>
                <a:ext cx="15" cy="52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4223" name="Group 127"/>
              <p:cNvGrpSpPr>
                <a:grpSpLocks/>
              </p:cNvGrpSpPr>
              <p:nvPr/>
            </p:nvGrpSpPr>
            <p:grpSpPr bwMode="auto">
              <a:xfrm>
                <a:off x="6222" y="9156"/>
                <a:ext cx="5763" cy="4006"/>
                <a:chOff x="6222" y="9156"/>
                <a:chExt cx="5763" cy="4006"/>
              </a:xfrm>
            </p:grpSpPr>
            <p:sp>
              <p:nvSpPr>
                <p:cNvPr id="4224" name="Text Box 128"/>
                <p:cNvSpPr txBox="1">
                  <a:spLocks noChangeArrowheads="1"/>
                </p:cNvSpPr>
                <p:nvPr/>
              </p:nvSpPr>
              <p:spPr bwMode="auto">
                <a:xfrm>
                  <a:off x="8502" y="12482"/>
                  <a:ext cx="723" cy="3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9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omic Sans MS" pitchFamily="66" charset="0"/>
                      <a:cs typeface="Arial" pitchFamily="34" charset="0"/>
                    </a:rPr>
                    <a:t>130</a:t>
                  </a: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225" name="Text Box 129"/>
                <p:cNvSpPr txBox="1">
                  <a:spLocks noChangeArrowheads="1"/>
                </p:cNvSpPr>
                <p:nvPr/>
              </p:nvSpPr>
              <p:spPr bwMode="auto">
                <a:xfrm>
                  <a:off x="7890" y="12767"/>
                  <a:ext cx="2085" cy="3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9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omic Sans MS" pitchFamily="66" charset="0"/>
                      <a:cs typeface="Arial" pitchFamily="34" charset="0"/>
                    </a:rPr>
                    <a:t>All dimensions in mm</a:t>
                  </a: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4226" name="Group 130"/>
                <p:cNvGrpSpPr>
                  <a:grpSpLocks/>
                </p:cNvGrpSpPr>
                <p:nvPr/>
              </p:nvGrpSpPr>
              <p:grpSpPr bwMode="auto">
                <a:xfrm>
                  <a:off x="6222" y="9156"/>
                  <a:ext cx="5763" cy="3855"/>
                  <a:chOff x="6222" y="9156"/>
                  <a:chExt cx="5763" cy="3855"/>
                </a:xfrm>
              </p:grpSpPr>
              <p:grpSp>
                <p:nvGrpSpPr>
                  <p:cNvPr id="4227" name="Group 131"/>
                  <p:cNvGrpSpPr>
                    <a:grpSpLocks/>
                  </p:cNvGrpSpPr>
                  <p:nvPr/>
                </p:nvGrpSpPr>
                <p:grpSpPr bwMode="auto">
                  <a:xfrm>
                    <a:off x="6297" y="9156"/>
                    <a:ext cx="5208" cy="3855"/>
                    <a:chOff x="6297" y="9156"/>
                    <a:chExt cx="5208" cy="3855"/>
                  </a:xfrm>
                </p:grpSpPr>
                <p:grpSp>
                  <p:nvGrpSpPr>
                    <p:cNvPr id="4228" name="Group 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297" y="9156"/>
                      <a:ext cx="5208" cy="3855"/>
                      <a:chOff x="6297" y="9156"/>
                      <a:chExt cx="5208" cy="3855"/>
                    </a:xfrm>
                  </p:grpSpPr>
                  <p:cxnSp>
                    <p:nvCxnSpPr>
                      <p:cNvPr id="4229" name="AutoShape 133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1100" y="9186"/>
                        <a:ext cx="0" cy="3195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 type="triangle" w="med" len="med"/>
                        <a:tailEnd type="triangle" w="med" len="med"/>
                      </a:ln>
                    </p:spPr>
                  </p:cxnSp>
                  <p:sp>
                    <p:nvSpPr>
                      <p:cNvPr id="4230" name="Rectangle 1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02" y="9186"/>
                        <a:ext cx="2928" cy="54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231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30" y="9726"/>
                        <a:ext cx="722" cy="211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232" name="Rectangle 13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32" y="11841"/>
                        <a:ext cx="2928" cy="54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cxnSp>
                    <p:nvCxnSpPr>
                      <p:cNvPr id="4233" name="AutoShape 137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800" y="9186"/>
                        <a:ext cx="585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cxnSp>
                    <p:nvCxnSpPr>
                      <p:cNvPr id="4234" name="AutoShape 138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920" y="12381"/>
                        <a:ext cx="585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sp>
                    <p:nvSpPr>
                      <p:cNvPr id="4235" name="AutoShap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272" y="9156"/>
                        <a:ext cx="144" cy="144"/>
                      </a:xfrm>
                      <a:prstGeom prst="flowChartConnector">
                        <a:avLst/>
                      </a:prstGeom>
                      <a:solidFill>
                        <a:srgbClr val="000000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236" name="AutoShape 1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152" y="12276"/>
                        <a:ext cx="144" cy="144"/>
                      </a:xfrm>
                      <a:prstGeom prst="flowChartConnector">
                        <a:avLst/>
                      </a:prstGeom>
                      <a:solidFill>
                        <a:srgbClr val="000000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237" name="Text Box 14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742" y="10607"/>
                        <a:ext cx="468" cy="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100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9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mic Sans MS" pitchFamily="66" charset="0"/>
                            <a:cs typeface="Arial" pitchFamily="34" charset="0"/>
                          </a:rPr>
                          <a:t>C</a:t>
                        </a:r>
                        <a:endPara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sp>
                    <p:nvSpPr>
                      <p:cNvPr id="4238" name="Text Box 14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727" y="11222"/>
                        <a:ext cx="468" cy="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100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9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mic Sans MS" pitchFamily="66" charset="0"/>
                            <a:cs typeface="Arial" pitchFamily="34" charset="0"/>
                          </a:rPr>
                          <a:t>D</a:t>
                        </a:r>
                        <a:endPara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cxnSp>
                    <p:nvCxnSpPr>
                      <p:cNvPr id="4239" name="AutoShape 143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9387" y="11412"/>
                        <a:ext cx="528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sp>
                    <p:nvSpPr>
                      <p:cNvPr id="4240" name="Text Box 14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9507" y="11417"/>
                        <a:ext cx="723" cy="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100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9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mic Sans MS" pitchFamily="66" charset="0"/>
                            <a:cs typeface="Arial" pitchFamily="34" charset="0"/>
                          </a:rPr>
                          <a:t>50</a:t>
                        </a:r>
                        <a:endPara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cxnSp>
                    <p:nvCxnSpPr>
                      <p:cNvPr id="4241" name="AutoShape 145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6675" y="11842"/>
                        <a:ext cx="330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cxnSp>
                    <p:nvCxnSpPr>
                      <p:cNvPr id="4242" name="AutoShape 146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6690" y="12367"/>
                        <a:ext cx="330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sp>
                    <p:nvSpPr>
                      <p:cNvPr id="4243" name="Text Box 14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297" y="11942"/>
                        <a:ext cx="723" cy="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ts val="100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9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mic Sans MS" pitchFamily="66" charset="0"/>
                            <a:cs typeface="Arial" pitchFamily="34" charset="0"/>
                          </a:rPr>
                          <a:t>7.75</a:t>
                        </a:r>
                        <a:endPara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cxnSp>
                    <p:nvCxnSpPr>
                      <p:cNvPr id="4244" name="AutoShape 148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H="1">
                        <a:off x="6945" y="10797"/>
                        <a:ext cx="1745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</p:cxnSp>
                  <p:cxnSp>
                    <p:nvCxnSpPr>
                      <p:cNvPr id="4245" name="AutoShape 149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7317" y="12651"/>
                        <a:ext cx="0" cy="315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cxnSp>
                    <p:nvCxnSpPr>
                      <p:cNvPr id="4246" name="AutoShape 15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242" y="12696"/>
                        <a:ext cx="0" cy="315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cxnSp>
                    <p:nvCxnSpPr>
                      <p:cNvPr id="4247" name="AutoShape 15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7317" y="12831"/>
                        <a:ext cx="2913" cy="15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cxnSp>
                    <p:nvCxnSpPr>
                      <p:cNvPr id="4248" name="AutoShape 152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8757" y="9191"/>
                        <a:ext cx="0" cy="1295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</p:cxnSp>
                  <p:cxnSp>
                    <p:nvCxnSpPr>
                      <p:cNvPr id="4249" name="AutoShape 153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7812" y="11106"/>
                        <a:ext cx="618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</p:cxnSp>
                  <p:cxnSp>
                    <p:nvCxnSpPr>
                      <p:cNvPr id="4250" name="AutoShape 154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H="1">
                        <a:off x="9147" y="11076"/>
                        <a:ext cx="618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</p:cxnSp>
                  <p:cxnSp>
                    <p:nvCxnSpPr>
                      <p:cNvPr id="4251" name="AutoShape 155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305" y="9187"/>
                        <a:ext cx="330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cxnSp>
                    <p:nvCxnSpPr>
                      <p:cNvPr id="4252" name="AutoShape 156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335" y="10762"/>
                        <a:ext cx="330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cxnSp>
                    <p:nvCxnSpPr>
                      <p:cNvPr id="4253" name="AutoShape 157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470" y="9202"/>
                        <a:ext cx="15" cy="156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</p:grpSp>
                <p:sp>
                  <p:nvSpPr>
                    <p:cNvPr id="4254" name="AutoShape 1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90" y="10122"/>
                      <a:ext cx="144" cy="144"/>
                    </a:xfrm>
                    <a:prstGeom prst="flowChartConnector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55" name="AutoShape 1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90" y="10732"/>
                      <a:ext cx="144" cy="144"/>
                    </a:xfrm>
                    <a:prstGeom prst="flowChartConnector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56" name="AutoShape 1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90" y="11352"/>
                      <a:ext cx="144" cy="144"/>
                    </a:xfrm>
                    <a:prstGeom prst="flowChartConnector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257" name="Text Box 1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7" y="10007"/>
                    <a:ext cx="468" cy="39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pitchFamily="34" charset="0"/>
                      </a:rPr>
                      <a:t>B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4258" name="Text Box 1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992" y="10493"/>
                    <a:ext cx="993" cy="39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pitchFamily="34" charset="0"/>
                      </a:rPr>
                      <a:t>200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4259" name="Text Box 1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492" y="9812"/>
                    <a:ext cx="723" cy="39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pitchFamily="34" charset="0"/>
                      </a:rPr>
                      <a:t>50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4260" name="Text Box 1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22" y="9302"/>
                    <a:ext cx="723" cy="39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pitchFamily="34" charset="0"/>
                      </a:rPr>
                      <a:t>7.75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4261" name="Text Box 1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407" y="9827"/>
                    <a:ext cx="723" cy="39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Arial" pitchFamily="34" charset="0"/>
                      </a:rPr>
                      <a:t>100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</p:grpSp>
        <p:sp>
          <p:nvSpPr>
            <p:cNvPr id="4262" name="Text Box 166"/>
            <p:cNvSpPr txBox="1">
              <a:spLocks noChangeArrowheads="1"/>
            </p:cNvSpPr>
            <p:nvPr/>
          </p:nvSpPr>
          <p:spPr bwMode="auto">
            <a:xfrm>
              <a:off x="7272" y="9207"/>
              <a:ext cx="468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A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63" name="Text Box 167"/>
            <p:cNvSpPr txBox="1">
              <a:spLocks noChangeArrowheads="1"/>
            </p:cNvSpPr>
            <p:nvPr/>
          </p:nvSpPr>
          <p:spPr bwMode="auto">
            <a:xfrm>
              <a:off x="10182" y="12152"/>
              <a:ext cx="468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2401</TotalTime>
  <Words>601</Words>
  <Application>Microsoft Office PowerPoint</Application>
  <PresentationFormat>On-screen Show (4:3)</PresentationFormat>
  <Paragraphs>59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Century Gothic</vt:lpstr>
      <vt:lpstr>Comic Sans MS</vt:lpstr>
      <vt:lpstr>Symbol</vt:lpstr>
      <vt:lpstr>Verdana</vt:lpstr>
      <vt:lpstr>Wingdings 2</vt:lpstr>
      <vt:lpstr>Verve</vt:lpstr>
      <vt:lpstr>Stresses due to Bending</vt:lpstr>
      <vt:lpstr>Introduction </vt:lpstr>
      <vt:lpstr>Geometry of deformation of a symmetrical beam subjected to pure bending</vt:lpstr>
      <vt:lpstr>PowerPoint Presentation</vt:lpstr>
      <vt:lpstr>PowerPoint Presentation</vt:lpstr>
      <vt:lpstr>PowerPoint Presentation</vt:lpstr>
      <vt:lpstr>Bending Deformations</vt:lpstr>
      <vt:lpstr>Stresses obtained from stress-strain relations</vt:lpstr>
      <vt:lpstr>Equilibrium requirements</vt:lpstr>
      <vt:lpstr>PowerPoint Presentation</vt:lpstr>
      <vt:lpstr>Stress and deformation in symmetrical elastic beams subjected to pure bending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problem</vt:lpstr>
      <vt:lpstr>Stresses in symmetrical elastic beams transmitting both shear force and bending moment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problem</vt:lpstr>
      <vt:lpstr>PowerPoint Presentation</vt:lpstr>
      <vt:lpstr>Exercise problem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Stresses due to Bending</dc:title>
  <dc:creator>IPCVostro</dc:creator>
  <cp:lastModifiedBy>DELL</cp:lastModifiedBy>
  <cp:revision>179</cp:revision>
  <dcterms:created xsi:type="dcterms:W3CDTF">2011-11-01T04:44:22Z</dcterms:created>
  <dcterms:modified xsi:type="dcterms:W3CDTF">2023-11-21T05:46:41Z</dcterms:modified>
</cp:coreProperties>
</file>